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78" r:id="rId6"/>
    <p:sldId id="260" r:id="rId7"/>
    <p:sldId id="279" r:id="rId8"/>
    <p:sldId id="280"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81" r:id="rId25"/>
    <p:sldId id="282" r:id="rId26"/>
    <p:sldId id="283" r:id="rId27"/>
    <p:sldId id="284" r:id="rId28"/>
    <p:sldId id="285" r:id="rId29"/>
    <p:sldId id="286" r:id="rId30"/>
    <p:sldId id="287" r:id="rId31"/>
    <p:sldId id="288" r:id="rId32"/>
    <p:sldId id="289" r:id="rId33"/>
    <p:sldId id="291" r:id="rId34"/>
    <p:sldId id="290" r:id="rId35"/>
    <p:sldId id="292" r:id="rId36"/>
    <p:sldId id="293" r:id="rId37"/>
    <p:sldId id="294" r:id="rId38"/>
    <p:sldId id="29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515038-FF2A-4CC5-99BA-A434012220F1}"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B2502D73-C723-4EDA-BE08-964C1884F458}">
      <dgm:prSet phldrT="[Text]" phldr="0"/>
      <dgm:spPr/>
      <dgm:t>
        <a:bodyPr/>
        <a:lstStyle/>
        <a:p>
          <a:r>
            <a:rPr lang="en-US" dirty="0"/>
            <a:t>Request rocket launch data from SpaceX API</a:t>
          </a:r>
        </a:p>
      </dgm:t>
    </dgm:pt>
    <dgm:pt modelId="{39B3D342-E564-4BAD-A50F-337F9D2DCC40}" type="parTrans" cxnId="{713323E1-57B3-4BA8-A6D6-FF74FE767A96}">
      <dgm:prSet/>
      <dgm:spPr/>
      <dgm:t>
        <a:bodyPr/>
        <a:lstStyle/>
        <a:p>
          <a:endParaRPr lang="en-US"/>
        </a:p>
      </dgm:t>
    </dgm:pt>
    <dgm:pt modelId="{31293141-192C-48CD-AE1F-6DDF5C4DF332}" type="sibTrans" cxnId="{713323E1-57B3-4BA8-A6D6-FF74FE767A96}">
      <dgm:prSet/>
      <dgm:spPr/>
      <dgm:t>
        <a:bodyPr/>
        <a:lstStyle/>
        <a:p>
          <a:endParaRPr lang="en-US"/>
        </a:p>
      </dgm:t>
    </dgm:pt>
    <dgm:pt modelId="{CCE953D5-B809-4EDF-976A-4BF38A8F4F44}">
      <dgm:prSet phldrT="[Text]" phldr="0"/>
      <dgm:spPr/>
      <dgm:t>
        <a:bodyPr/>
        <a:lstStyle/>
        <a:p>
          <a:r>
            <a:rPr lang="en-US" dirty="0"/>
            <a:t>Use JSON to decode response content</a:t>
          </a:r>
        </a:p>
      </dgm:t>
    </dgm:pt>
    <dgm:pt modelId="{F3DEF7E2-6D17-4F6E-968F-A34417BABDA0}" type="parTrans" cxnId="{E3C17EC0-9277-435F-A63D-ED79BB7819A0}">
      <dgm:prSet/>
      <dgm:spPr/>
      <dgm:t>
        <a:bodyPr/>
        <a:lstStyle/>
        <a:p>
          <a:endParaRPr lang="en-US"/>
        </a:p>
      </dgm:t>
    </dgm:pt>
    <dgm:pt modelId="{0E94735C-40EF-4C1D-BCE6-33D50F8A791A}" type="sibTrans" cxnId="{E3C17EC0-9277-435F-A63D-ED79BB7819A0}">
      <dgm:prSet/>
      <dgm:spPr/>
      <dgm:t>
        <a:bodyPr/>
        <a:lstStyle/>
        <a:p>
          <a:endParaRPr lang="en-US"/>
        </a:p>
      </dgm:t>
    </dgm:pt>
    <dgm:pt modelId="{6CEBB089-6B8E-4B02-B387-F2E4F7F03148}">
      <dgm:prSet phldrT="[Text]" phldr="0"/>
      <dgm:spPr/>
      <dgm:t>
        <a:bodyPr/>
        <a:lstStyle/>
        <a:p>
          <a:r>
            <a:rPr lang="en-US" dirty="0"/>
            <a:t>Build dictionary from obtained data and create </a:t>
          </a:r>
          <a:r>
            <a:rPr lang="en-US" dirty="0" err="1"/>
            <a:t>dataframe</a:t>
          </a:r>
          <a:r>
            <a:rPr lang="en-US" dirty="0"/>
            <a:t> from dictionary </a:t>
          </a:r>
        </a:p>
      </dgm:t>
    </dgm:pt>
    <dgm:pt modelId="{43B67290-F5E2-45C1-89B7-8BF25EFC159A}" type="parTrans" cxnId="{D76C69EB-D5B1-4421-A969-5295078BFB50}">
      <dgm:prSet/>
      <dgm:spPr/>
      <dgm:t>
        <a:bodyPr/>
        <a:lstStyle/>
        <a:p>
          <a:endParaRPr lang="en-US"/>
        </a:p>
      </dgm:t>
    </dgm:pt>
    <dgm:pt modelId="{3531745C-D5DB-4716-A116-0F6E59D67D79}" type="sibTrans" cxnId="{D76C69EB-D5B1-4421-A969-5295078BFB50}">
      <dgm:prSet/>
      <dgm:spPr/>
      <dgm:t>
        <a:bodyPr/>
        <a:lstStyle/>
        <a:p>
          <a:endParaRPr lang="en-US"/>
        </a:p>
      </dgm:t>
    </dgm:pt>
    <dgm:pt modelId="{00707E6B-6AA8-4FEB-A547-A4F7E2AD80E8}">
      <dgm:prSet phldrT="[Text]" phldr="0"/>
      <dgm:spPr/>
      <dgm:t>
        <a:bodyPr/>
        <a:lstStyle/>
        <a:p>
          <a:r>
            <a:rPr lang="en-US" dirty="0"/>
            <a:t>Filter data to include only Falcon 9 launch information</a:t>
          </a:r>
        </a:p>
      </dgm:t>
    </dgm:pt>
    <dgm:pt modelId="{46A92A73-1643-4C05-BF53-0582FD13BFF6}" type="parTrans" cxnId="{ECCC8ECF-71E1-48C4-BCCF-A4EFFA6FC8A5}">
      <dgm:prSet/>
      <dgm:spPr/>
      <dgm:t>
        <a:bodyPr/>
        <a:lstStyle/>
        <a:p>
          <a:endParaRPr lang="en-US"/>
        </a:p>
      </dgm:t>
    </dgm:pt>
    <dgm:pt modelId="{334C53C8-3062-4FBB-9974-AD3BCC08CB90}" type="sibTrans" cxnId="{ECCC8ECF-71E1-48C4-BCCF-A4EFFA6FC8A5}">
      <dgm:prSet/>
      <dgm:spPr/>
      <dgm:t>
        <a:bodyPr/>
        <a:lstStyle/>
        <a:p>
          <a:endParaRPr lang="en-US"/>
        </a:p>
      </dgm:t>
    </dgm:pt>
    <dgm:pt modelId="{7C633C0E-ED87-4287-8F6F-D4A8F2923F43}">
      <dgm:prSet phldrT="[Text]" phldr="0"/>
      <dgm:spPr/>
      <dgm:t>
        <a:bodyPr/>
        <a:lstStyle/>
        <a:p>
          <a:r>
            <a:rPr lang="en-US" dirty="0"/>
            <a:t>Replace missing values in Payload Mass column with calculated mean for that column and export to CSV</a:t>
          </a:r>
        </a:p>
      </dgm:t>
    </dgm:pt>
    <dgm:pt modelId="{523FCD6B-3D41-4C54-B818-F44AD783157D}" type="parTrans" cxnId="{FCD3ABC8-FC00-4AEF-87F6-66CD3BE346B1}">
      <dgm:prSet/>
      <dgm:spPr/>
      <dgm:t>
        <a:bodyPr/>
        <a:lstStyle/>
        <a:p>
          <a:endParaRPr lang="en-US"/>
        </a:p>
      </dgm:t>
    </dgm:pt>
    <dgm:pt modelId="{FCCB7568-3145-4D90-8F09-CBC56934D226}" type="sibTrans" cxnId="{FCD3ABC8-FC00-4AEF-87F6-66CD3BE346B1}">
      <dgm:prSet/>
      <dgm:spPr/>
      <dgm:t>
        <a:bodyPr/>
        <a:lstStyle/>
        <a:p>
          <a:endParaRPr lang="en-US"/>
        </a:p>
      </dgm:t>
    </dgm:pt>
    <dgm:pt modelId="{69120683-E20A-4E12-A363-2E5707EB1FEE}" type="pres">
      <dgm:prSet presAssocID="{C3515038-FF2A-4CC5-99BA-A434012220F1}" presName="diagram" presStyleCnt="0">
        <dgm:presLayoutVars>
          <dgm:dir/>
          <dgm:resizeHandles val="exact"/>
        </dgm:presLayoutVars>
      </dgm:prSet>
      <dgm:spPr/>
    </dgm:pt>
    <dgm:pt modelId="{3386613D-27FA-4777-9742-8FA36FAB631B}" type="pres">
      <dgm:prSet presAssocID="{B2502D73-C723-4EDA-BE08-964C1884F458}" presName="node" presStyleLbl="node1" presStyleIdx="0" presStyleCnt="5">
        <dgm:presLayoutVars>
          <dgm:bulletEnabled val="1"/>
        </dgm:presLayoutVars>
      </dgm:prSet>
      <dgm:spPr/>
    </dgm:pt>
    <dgm:pt modelId="{485D9D27-1173-464A-90FC-3669462F39CB}" type="pres">
      <dgm:prSet presAssocID="{31293141-192C-48CD-AE1F-6DDF5C4DF332}" presName="sibTrans" presStyleLbl="sibTrans2D1" presStyleIdx="0" presStyleCnt="4"/>
      <dgm:spPr/>
    </dgm:pt>
    <dgm:pt modelId="{95FB2968-94C4-48F1-B00C-A3652A789FB4}" type="pres">
      <dgm:prSet presAssocID="{31293141-192C-48CD-AE1F-6DDF5C4DF332}" presName="connectorText" presStyleLbl="sibTrans2D1" presStyleIdx="0" presStyleCnt="4"/>
      <dgm:spPr/>
    </dgm:pt>
    <dgm:pt modelId="{1549A353-6E21-47C4-A718-3B8690B9955F}" type="pres">
      <dgm:prSet presAssocID="{CCE953D5-B809-4EDF-976A-4BF38A8F4F44}" presName="node" presStyleLbl="node1" presStyleIdx="1" presStyleCnt="5">
        <dgm:presLayoutVars>
          <dgm:bulletEnabled val="1"/>
        </dgm:presLayoutVars>
      </dgm:prSet>
      <dgm:spPr/>
    </dgm:pt>
    <dgm:pt modelId="{9C3E0031-B751-4150-9E25-34F61A39D1BA}" type="pres">
      <dgm:prSet presAssocID="{0E94735C-40EF-4C1D-BCE6-33D50F8A791A}" presName="sibTrans" presStyleLbl="sibTrans2D1" presStyleIdx="1" presStyleCnt="4"/>
      <dgm:spPr/>
    </dgm:pt>
    <dgm:pt modelId="{4AE03069-2E98-4F0D-B9B6-4AFCFFB49398}" type="pres">
      <dgm:prSet presAssocID="{0E94735C-40EF-4C1D-BCE6-33D50F8A791A}" presName="connectorText" presStyleLbl="sibTrans2D1" presStyleIdx="1" presStyleCnt="4"/>
      <dgm:spPr/>
    </dgm:pt>
    <dgm:pt modelId="{8CAE484A-C49E-4DAC-B9C9-B5D266A1DB23}" type="pres">
      <dgm:prSet presAssocID="{6CEBB089-6B8E-4B02-B387-F2E4F7F03148}" presName="node" presStyleLbl="node1" presStyleIdx="2" presStyleCnt="5">
        <dgm:presLayoutVars>
          <dgm:bulletEnabled val="1"/>
        </dgm:presLayoutVars>
      </dgm:prSet>
      <dgm:spPr/>
    </dgm:pt>
    <dgm:pt modelId="{A636E9C8-ADDF-4B95-B663-A79D95D8DC0A}" type="pres">
      <dgm:prSet presAssocID="{3531745C-D5DB-4716-A116-0F6E59D67D79}" presName="sibTrans" presStyleLbl="sibTrans2D1" presStyleIdx="2" presStyleCnt="4"/>
      <dgm:spPr/>
    </dgm:pt>
    <dgm:pt modelId="{12086BAF-B9BA-4C5D-8E0A-66DA524836D9}" type="pres">
      <dgm:prSet presAssocID="{3531745C-D5DB-4716-A116-0F6E59D67D79}" presName="connectorText" presStyleLbl="sibTrans2D1" presStyleIdx="2" presStyleCnt="4"/>
      <dgm:spPr/>
    </dgm:pt>
    <dgm:pt modelId="{CDBB1666-3D79-4FA0-A498-D03E0123DDAA}" type="pres">
      <dgm:prSet presAssocID="{00707E6B-6AA8-4FEB-A547-A4F7E2AD80E8}" presName="node" presStyleLbl="node1" presStyleIdx="3" presStyleCnt="5">
        <dgm:presLayoutVars>
          <dgm:bulletEnabled val="1"/>
        </dgm:presLayoutVars>
      </dgm:prSet>
      <dgm:spPr/>
    </dgm:pt>
    <dgm:pt modelId="{59C30275-BA9F-48BF-B1E7-96F329AB23AF}" type="pres">
      <dgm:prSet presAssocID="{334C53C8-3062-4FBB-9974-AD3BCC08CB90}" presName="sibTrans" presStyleLbl="sibTrans2D1" presStyleIdx="3" presStyleCnt="4"/>
      <dgm:spPr/>
    </dgm:pt>
    <dgm:pt modelId="{F2DF88D2-E57C-4F4E-8E83-33298F66525C}" type="pres">
      <dgm:prSet presAssocID="{334C53C8-3062-4FBB-9974-AD3BCC08CB90}" presName="connectorText" presStyleLbl="sibTrans2D1" presStyleIdx="3" presStyleCnt="4"/>
      <dgm:spPr/>
    </dgm:pt>
    <dgm:pt modelId="{C99B972D-15AC-4A46-BCD4-C899D04FC427}" type="pres">
      <dgm:prSet presAssocID="{7C633C0E-ED87-4287-8F6F-D4A8F2923F43}" presName="node" presStyleLbl="node1" presStyleIdx="4" presStyleCnt="5">
        <dgm:presLayoutVars>
          <dgm:bulletEnabled val="1"/>
        </dgm:presLayoutVars>
      </dgm:prSet>
      <dgm:spPr/>
    </dgm:pt>
  </dgm:ptLst>
  <dgm:cxnLst>
    <dgm:cxn modelId="{88BD6805-386D-471D-9F51-F4F80137ACF9}" type="presOf" srcId="{00707E6B-6AA8-4FEB-A547-A4F7E2AD80E8}" destId="{CDBB1666-3D79-4FA0-A498-D03E0123DDAA}" srcOrd="0" destOrd="0" presId="urn:microsoft.com/office/officeart/2005/8/layout/process5"/>
    <dgm:cxn modelId="{2B2E9508-D90A-4EB1-8954-6E548742EA82}" type="presOf" srcId="{31293141-192C-48CD-AE1F-6DDF5C4DF332}" destId="{485D9D27-1173-464A-90FC-3669462F39CB}" srcOrd="0" destOrd="0" presId="urn:microsoft.com/office/officeart/2005/8/layout/process5"/>
    <dgm:cxn modelId="{1A276134-8E7F-4B37-9AD7-E52060A9D68E}" type="presOf" srcId="{0E94735C-40EF-4C1D-BCE6-33D50F8A791A}" destId="{9C3E0031-B751-4150-9E25-34F61A39D1BA}" srcOrd="0" destOrd="0" presId="urn:microsoft.com/office/officeart/2005/8/layout/process5"/>
    <dgm:cxn modelId="{8C94A64B-4BE5-4DA7-8749-3B5517B35A23}" type="presOf" srcId="{0E94735C-40EF-4C1D-BCE6-33D50F8A791A}" destId="{4AE03069-2E98-4F0D-B9B6-4AFCFFB49398}" srcOrd="1" destOrd="0" presId="urn:microsoft.com/office/officeart/2005/8/layout/process5"/>
    <dgm:cxn modelId="{E03BE273-F4A4-4A98-9D5A-0BAFB6C0DDFE}" type="presOf" srcId="{B2502D73-C723-4EDA-BE08-964C1884F458}" destId="{3386613D-27FA-4777-9742-8FA36FAB631B}" srcOrd="0" destOrd="0" presId="urn:microsoft.com/office/officeart/2005/8/layout/process5"/>
    <dgm:cxn modelId="{279BB77F-A9E4-4DBB-BD19-874EDA0C6C31}" type="presOf" srcId="{334C53C8-3062-4FBB-9974-AD3BCC08CB90}" destId="{F2DF88D2-E57C-4F4E-8E83-33298F66525C}" srcOrd="1" destOrd="0" presId="urn:microsoft.com/office/officeart/2005/8/layout/process5"/>
    <dgm:cxn modelId="{4142A784-E1BC-4721-942E-0B518D114F8B}" type="presOf" srcId="{6CEBB089-6B8E-4B02-B387-F2E4F7F03148}" destId="{8CAE484A-C49E-4DAC-B9C9-B5D266A1DB23}" srcOrd="0" destOrd="0" presId="urn:microsoft.com/office/officeart/2005/8/layout/process5"/>
    <dgm:cxn modelId="{E127808A-1371-4132-9EAF-856DD11F6015}" type="presOf" srcId="{7C633C0E-ED87-4287-8F6F-D4A8F2923F43}" destId="{C99B972D-15AC-4A46-BCD4-C899D04FC427}" srcOrd="0" destOrd="0" presId="urn:microsoft.com/office/officeart/2005/8/layout/process5"/>
    <dgm:cxn modelId="{96CCC9A7-1899-4609-8F85-67675ADF2906}" type="presOf" srcId="{CCE953D5-B809-4EDF-976A-4BF38A8F4F44}" destId="{1549A353-6E21-47C4-A718-3B8690B9955F}" srcOrd="0" destOrd="0" presId="urn:microsoft.com/office/officeart/2005/8/layout/process5"/>
    <dgm:cxn modelId="{4F3163B4-EB6D-4566-8C21-20B660B77BCA}" type="presOf" srcId="{3531745C-D5DB-4716-A116-0F6E59D67D79}" destId="{A636E9C8-ADDF-4B95-B663-A79D95D8DC0A}" srcOrd="0" destOrd="0" presId="urn:microsoft.com/office/officeart/2005/8/layout/process5"/>
    <dgm:cxn modelId="{E3C17EC0-9277-435F-A63D-ED79BB7819A0}" srcId="{C3515038-FF2A-4CC5-99BA-A434012220F1}" destId="{CCE953D5-B809-4EDF-976A-4BF38A8F4F44}" srcOrd="1" destOrd="0" parTransId="{F3DEF7E2-6D17-4F6E-968F-A34417BABDA0}" sibTransId="{0E94735C-40EF-4C1D-BCE6-33D50F8A791A}"/>
    <dgm:cxn modelId="{C30B84C8-D738-449D-B628-BAA5E90CFCEF}" type="presOf" srcId="{31293141-192C-48CD-AE1F-6DDF5C4DF332}" destId="{95FB2968-94C4-48F1-B00C-A3652A789FB4}" srcOrd="1" destOrd="0" presId="urn:microsoft.com/office/officeart/2005/8/layout/process5"/>
    <dgm:cxn modelId="{FCD3ABC8-FC00-4AEF-87F6-66CD3BE346B1}" srcId="{C3515038-FF2A-4CC5-99BA-A434012220F1}" destId="{7C633C0E-ED87-4287-8F6F-D4A8F2923F43}" srcOrd="4" destOrd="0" parTransId="{523FCD6B-3D41-4C54-B818-F44AD783157D}" sibTransId="{FCCB7568-3145-4D90-8F09-CBC56934D226}"/>
    <dgm:cxn modelId="{ECCC8ECF-71E1-48C4-BCCF-A4EFFA6FC8A5}" srcId="{C3515038-FF2A-4CC5-99BA-A434012220F1}" destId="{00707E6B-6AA8-4FEB-A547-A4F7E2AD80E8}" srcOrd="3" destOrd="0" parTransId="{46A92A73-1643-4C05-BF53-0582FD13BFF6}" sibTransId="{334C53C8-3062-4FBB-9974-AD3BCC08CB90}"/>
    <dgm:cxn modelId="{F827FCE0-5086-4462-9237-FF5F7002E169}" type="presOf" srcId="{3531745C-D5DB-4716-A116-0F6E59D67D79}" destId="{12086BAF-B9BA-4C5D-8E0A-66DA524836D9}" srcOrd="1" destOrd="0" presId="urn:microsoft.com/office/officeart/2005/8/layout/process5"/>
    <dgm:cxn modelId="{713323E1-57B3-4BA8-A6D6-FF74FE767A96}" srcId="{C3515038-FF2A-4CC5-99BA-A434012220F1}" destId="{B2502D73-C723-4EDA-BE08-964C1884F458}" srcOrd="0" destOrd="0" parTransId="{39B3D342-E564-4BAD-A50F-337F9D2DCC40}" sibTransId="{31293141-192C-48CD-AE1F-6DDF5C4DF332}"/>
    <dgm:cxn modelId="{A077A3E1-9B40-4FC5-A925-852FD405C232}" type="presOf" srcId="{334C53C8-3062-4FBB-9974-AD3BCC08CB90}" destId="{59C30275-BA9F-48BF-B1E7-96F329AB23AF}" srcOrd="0" destOrd="0" presId="urn:microsoft.com/office/officeart/2005/8/layout/process5"/>
    <dgm:cxn modelId="{D76C69EB-D5B1-4421-A969-5295078BFB50}" srcId="{C3515038-FF2A-4CC5-99BA-A434012220F1}" destId="{6CEBB089-6B8E-4B02-B387-F2E4F7F03148}" srcOrd="2" destOrd="0" parTransId="{43B67290-F5E2-45C1-89B7-8BF25EFC159A}" sibTransId="{3531745C-D5DB-4716-A116-0F6E59D67D79}"/>
    <dgm:cxn modelId="{487EAFEC-E431-48B5-B7B6-46B0BF026FCF}" type="presOf" srcId="{C3515038-FF2A-4CC5-99BA-A434012220F1}" destId="{69120683-E20A-4E12-A363-2E5707EB1FEE}" srcOrd="0" destOrd="0" presId="urn:microsoft.com/office/officeart/2005/8/layout/process5"/>
    <dgm:cxn modelId="{CB912D74-902E-4B51-81CF-E9677A201148}" type="presParOf" srcId="{69120683-E20A-4E12-A363-2E5707EB1FEE}" destId="{3386613D-27FA-4777-9742-8FA36FAB631B}" srcOrd="0" destOrd="0" presId="urn:microsoft.com/office/officeart/2005/8/layout/process5"/>
    <dgm:cxn modelId="{E1ED3DEC-F6E7-4EC0-9ED1-775642BA84E4}" type="presParOf" srcId="{69120683-E20A-4E12-A363-2E5707EB1FEE}" destId="{485D9D27-1173-464A-90FC-3669462F39CB}" srcOrd="1" destOrd="0" presId="urn:microsoft.com/office/officeart/2005/8/layout/process5"/>
    <dgm:cxn modelId="{5590ED6B-C00E-4C8A-A2A1-ACFA225D3204}" type="presParOf" srcId="{485D9D27-1173-464A-90FC-3669462F39CB}" destId="{95FB2968-94C4-48F1-B00C-A3652A789FB4}" srcOrd="0" destOrd="0" presId="urn:microsoft.com/office/officeart/2005/8/layout/process5"/>
    <dgm:cxn modelId="{68492B44-AD39-4750-B13B-6CABB5F23A86}" type="presParOf" srcId="{69120683-E20A-4E12-A363-2E5707EB1FEE}" destId="{1549A353-6E21-47C4-A718-3B8690B9955F}" srcOrd="2" destOrd="0" presId="urn:microsoft.com/office/officeart/2005/8/layout/process5"/>
    <dgm:cxn modelId="{E4E9AE6D-C7FB-4B5B-A069-00904A71C03C}" type="presParOf" srcId="{69120683-E20A-4E12-A363-2E5707EB1FEE}" destId="{9C3E0031-B751-4150-9E25-34F61A39D1BA}" srcOrd="3" destOrd="0" presId="urn:microsoft.com/office/officeart/2005/8/layout/process5"/>
    <dgm:cxn modelId="{884B3B67-B4FF-45E9-9CC4-D489770A9A39}" type="presParOf" srcId="{9C3E0031-B751-4150-9E25-34F61A39D1BA}" destId="{4AE03069-2E98-4F0D-B9B6-4AFCFFB49398}" srcOrd="0" destOrd="0" presId="urn:microsoft.com/office/officeart/2005/8/layout/process5"/>
    <dgm:cxn modelId="{BEB4B714-CC20-4A60-9C48-469C0E7F016D}" type="presParOf" srcId="{69120683-E20A-4E12-A363-2E5707EB1FEE}" destId="{8CAE484A-C49E-4DAC-B9C9-B5D266A1DB23}" srcOrd="4" destOrd="0" presId="urn:microsoft.com/office/officeart/2005/8/layout/process5"/>
    <dgm:cxn modelId="{3804A6F7-F678-4D90-86F1-0DAED04E56E8}" type="presParOf" srcId="{69120683-E20A-4E12-A363-2E5707EB1FEE}" destId="{A636E9C8-ADDF-4B95-B663-A79D95D8DC0A}" srcOrd="5" destOrd="0" presId="urn:microsoft.com/office/officeart/2005/8/layout/process5"/>
    <dgm:cxn modelId="{716196ED-5B8D-4458-B03F-8771DBA58ACB}" type="presParOf" srcId="{A636E9C8-ADDF-4B95-B663-A79D95D8DC0A}" destId="{12086BAF-B9BA-4C5D-8E0A-66DA524836D9}" srcOrd="0" destOrd="0" presId="urn:microsoft.com/office/officeart/2005/8/layout/process5"/>
    <dgm:cxn modelId="{BFF30B39-1C8E-4A8C-82CE-4102A5732252}" type="presParOf" srcId="{69120683-E20A-4E12-A363-2E5707EB1FEE}" destId="{CDBB1666-3D79-4FA0-A498-D03E0123DDAA}" srcOrd="6" destOrd="0" presId="urn:microsoft.com/office/officeart/2005/8/layout/process5"/>
    <dgm:cxn modelId="{AACD9BAA-377A-4F3D-B9FD-1FF741B5808F}" type="presParOf" srcId="{69120683-E20A-4E12-A363-2E5707EB1FEE}" destId="{59C30275-BA9F-48BF-B1E7-96F329AB23AF}" srcOrd="7" destOrd="0" presId="urn:microsoft.com/office/officeart/2005/8/layout/process5"/>
    <dgm:cxn modelId="{45970917-1646-409C-BDFF-6FD5C65D3488}" type="presParOf" srcId="{59C30275-BA9F-48BF-B1E7-96F329AB23AF}" destId="{F2DF88D2-E57C-4F4E-8E83-33298F66525C}" srcOrd="0" destOrd="0" presId="urn:microsoft.com/office/officeart/2005/8/layout/process5"/>
    <dgm:cxn modelId="{D0C0D7A6-BEC3-4427-83B0-5D6E45798FF6}" type="presParOf" srcId="{69120683-E20A-4E12-A363-2E5707EB1FEE}" destId="{C99B972D-15AC-4A46-BCD4-C899D04FC427}"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D9D8D5-AFE5-401B-9670-2799FE3C52B9}"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95A2E886-1056-416E-8955-B4EF69175E02}">
      <dgm:prSet phldrT="[Text]" phldr="0"/>
      <dgm:spPr/>
      <dgm:t>
        <a:bodyPr/>
        <a:lstStyle/>
        <a:p>
          <a:r>
            <a:rPr lang="en-US" dirty="0"/>
            <a:t>Request Falcon 9 launch data from Wikipedia</a:t>
          </a:r>
        </a:p>
      </dgm:t>
    </dgm:pt>
    <dgm:pt modelId="{96C2FB00-E3DD-4859-B4E3-B9CA7C47B899}" type="parTrans" cxnId="{03C9C1C9-D0D1-4919-ADAB-41987D3F8C2A}">
      <dgm:prSet/>
      <dgm:spPr/>
      <dgm:t>
        <a:bodyPr/>
        <a:lstStyle/>
        <a:p>
          <a:endParaRPr lang="en-US"/>
        </a:p>
      </dgm:t>
    </dgm:pt>
    <dgm:pt modelId="{CEA9BD17-D39A-4C06-A89F-2F5585CB2C78}" type="sibTrans" cxnId="{03C9C1C9-D0D1-4919-ADAB-41987D3F8C2A}">
      <dgm:prSet/>
      <dgm:spPr/>
      <dgm:t>
        <a:bodyPr/>
        <a:lstStyle/>
        <a:p>
          <a:endParaRPr lang="en-US"/>
        </a:p>
      </dgm:t>
    </dgm:pt>
    <dgm:pt modelId="{596A5403-7CC1-4394-A52D-C5FEC8749A0A}">
      <dgm:prSet phldrT="[Text]" phldr="0"/>
      <dgm:spPr/>
      <dgm:t>
        <a:bodyPr/>
        <a:lstStyle/>
        <a:p>
          <a:r>
            <a:rPr lang="en-US" dirty="0"/>
            <a:t>Collect the data by parsing HTML tables</a:t>
          </a:r>
        </a:p>
      </dgm:t>
    </dgm:pt>
    <dgm:pt modelId="{2DFA8769-A3C6-470E-A4AC-BA8FFE39CC46}" type="parTrans" cxnId="{4A2FF3BC-1BF0-44E5-8865-2C94AC464A04}">
      <dgm:prSet/>
      <dgm:spPr/>
      <dgm:t>
        <a:bodyPr/>
        <a:lstStyle/>
        <a:p>
          <a:endParaRPr lang="en-US"/>
        </a:p>
      </dgm:t>
    </dgm:pt>
    <dgm:pt modelId="{6E3B47E4-D3D6-4A73-89D1-9E36551E2CDB}" type="sibTrans" cxnId="{4A2FF3BC-1BF0-44E5-8865-2C94AC464A04}">
      <dgm:prSet/>
      <dgm:spPr/>
      <dgm:t>
        <a:bodyPr/>
        <a:lstStyle/>
        <a:p>
          <a:endParaRPr lang="en-US"/>
        </a:p>
      </dgm:t>
    </dgm:pt>
    <dgm:pt modelId="{70DF8BA3-C354-4B1B-B7EA-D31EB6DB8EA4}">
      <dgm:prSet phldrT="[Text]"/>
      <dgm:spPr/>
      <dgm:t>
        <a:bodyPr/>
        <a:lstStyle/>
        <a:p>
          <a:r>
            <a:rPr lang="en-US" dirty="0"/>
            <a:t>Build dictionary from obtained data </a:t>
          </a:r>
        </a:p>
      </dgm:t>
    </dgm:pt>
    <dgm:pt modelId="{47C7A06E-126B-4847-BE58-825A49B7276F}" type="parTrans" cxnId="{C9A5220A-B41A-46AD-9623-B757A22FB96E}">
      <dgm:prSet/>
      <dgm:spPr/>
      <dgm:t>
        <a:bodyPr/>
        <a:lstStyle/>
        <a:p>
          <a:endParaRPr lang="en-US"/>
        </a:p>
      </dgm:t>
    </dgm:pt>
    <dgm:pt modelId="{1078933C-2D52-4C99-A7E2-8EBCEBE24295}" type="sibTrans" cxnId="{C9A5220A-B41A-46AD-9623-B757A22FB96E}">
      <dgm:prSet/>
      <dgm:spPr/>
      <dgm:t>
        <a:bodyPr/>
        <a:lstStyle/>
        <a:p>
          <a:endParaRPr lang="en-US"/>
        </a:p>
      </dgm:t>
    </dgm:pt>
    <dgm:pt modelId="{9E4A8CBD-6F47-49A1-A994-53F4F72EF2D1}">
      <dgm:prSet phldrT="[Text]"/>
      <dgm:spPr/>
      <dgm:t>
        <a:bodyPr/>
        <a:lstStyle/>
        <a:p>
          <a:r>
            <a:rPr lang="en-US" dirty="0"/>
            <a:t>Create </a:t>
          </a:r>
          <a:r>
            <a:rPr lang="en-US" dirty="0" err="1"/>
            <a:t>dataframe</a:t>
          </a:r>
          <a:r>
            <a:rPr lang="en-US" dirty="0"/>
            <a:t> from dictionary </a:t>
          </a:r>
        </a:p>
      </dgm:t>
    </dgm:pt>
    <dgm:pt modelId="{919EFD16-3D8D-4AE0-A137-A9682A9383BE}" type="parTrans" cxnId="{B210A404-2E77-4C04-9EBB-79F290DCBDF6}">
      <dgm:prSet/>
      <dgm:spPr/>
      <dgm:t>
        <a:bodyPr/>
        <a:lstStyle/>
        <a:p>
          <a:endParaRPr lang="en-US"/>
        </a:p>
      </dgm:t>
    </dgm:pt>
    <dgm:pt modelId="{A5E173AB-CE9A-4410-9048-2C0BCE13E183}" type="sibTrans" cxnId="{B210A404-2E77-4C04-9EBB-79F290DCBDF6}">
      <dgm:prSet/>
      <dgm:spPr/>
      <dgm:t>
        <a:bodyPr/>
        <a:lstStyle/>
        <a:p>
          <a:endParaRPr lang="en-US"/>
        </a:p>
      </dgm:t>
    </dgm:pt>
    <dgm:pt modelId="{3B1AA496-70CF-471B-AD7C-643217983BB3}">
      <dgm:prSet phldrT="[Text]"/>
      <dgm:spPr/>
      <dgm:t>
        <a:bodyPr/>
        <a:lstStyle/>
        <a:p>
          <a:r>
            <a:rPr lang="en-US" dirty="0"/>
            <a:t>Export to CSV</a:t>
          </a:r>
        </a:p>
      </dgm:t>
    </dgm:pt>
    <dgm:pt modelId="{40A692DC-1B87-444D-A8BC-2908BDC53996}" type="parTrans" cxnId="{F1FF2FB6-31EF-40DE-A25B-E0F3F16BE54B}">
      <dgm:prSet/>
      <dgm:spPr/>
      <dgm:t>
        <a:bodyPr/>
        <a:lstStyle/>
        <a:p>
          <a:endParaRPr lang="en-US"/>
        </a:p>
      </dgm:t>
    </dgm:pt>
    <dgm:pt modelId="{45646D4F-555A-4FA7-8369-0123F6EE3B45}" type="sibTrans" cxnId="{F1FF2FB6-31EF-40DE-A25B-E0F3F16BE54B}">
      <dgm:prSet/>
      <dgm:spPr/>
      <dgm:t>
        <a:bodyPr/>
        <a:lstStyle/>
        <a:p>
          <a:endParaRPr lang="en-US"/>
        </a:p>
      </dgm:t>
    </dgm:pt>
    <dgm:pt modelId="{B0ECD77B-CCE4-4CF9-9710-C474B9DA24C4}" type="pres">
      <dgm:prSet presAssocID="{75D9D8D5-AFE5-401B-9670-2799FE3C52B9}" presName="diagram" presStyleCnt="0">
        <dgm:presLayoutVars>
          <dgm:dir/>
          <dgm:resizeHandles val="exact"/>
        </dgm:presLayoutVars>
      </dgm:prSet>
      <dgm:spPr/>
    </dgm:pt>
    <dgm:pt modelId="{A5FA3C8B-1AC4-43BD-B2D2-4D74BFCAEF10}" type="pres">
      <dgm:prSet presAssocID="{95A2E886-1056-416E-8955-B4EF69175E02}" presName="node" presStyleLbl="node1" presStyleIdx="0" presStyleCnt="5">
        <dgm:presLayoutVars>
          <dgm:bulletEnabled val="1"/>
        </dgm:presLayoutVars>
      </dgm:prSet>
      <dgm:spPr/>
    </dgm:pt>
    <dgm:pt modelId="{A022925B-659A-44B0-9D2D-C18AF496805B}" type="pres">
      <dgm:prSet presAssocID="{CEA9BD17-D39A-4C06-A89F-2F5585CB2C78}" presName="sibTrans" presStyleLbl="sibTrans2D1" presStyleIdx="0" presStyleCnt="4"/>
      <dgm:spPr/>
    </dgm:pt>
    <dgm:pt modelId="{42A9AA13-91F5-4A39-A709-23092CFEAAF5}" type="pres">
      <dgm:prSet presAssocID="{CEA9BD17-D39A-4C06-A89F-2F5585CB2C78}" presName="connectorText" presStyleLbl="sibTrans2D1" presStyleIdx="0" presStyleCnt="4"/>
      <dgm:spPr/>
    </dgm:pt>
    <dgm:pt modelId="{CA581BCD-7413-4662-8B7A-EF13DA021E8E}" type="pres">
      <dgm:prSet presAssocID="{596A5403-7CC1-4394-A52D-C5FEC8749A0A}" presName="node" presStyleLbl="node1" presStyleIdx="1" presStyleCnt="5">
        <dgm:presLayoutVars>
          <dgm:bulletEnabled val="1"/>
        </dgm:presLayoutVars>
      </dgm:prSet>
      <dgm:spPr/>
    </dgm:pt>
    <dgm:pt modelId="{3E4F3ACD-D20B-4F0C-A908-B0B5B75E25D8}" type="pres">
      <dgm:prSet presAssocID="{6E3B47E4-D3D6-4A73-89D1-9E36551E2CDB}" presName="sibTrans" presStyleLbl="sibTrans2D1" presStyleIdx="1" presStyleCnt="4"/>
      <dgm:spPr/>
    </dgm:pt>
    <dgm:pt modelId="{1DD175AE-A630-4B69-9C40-E98CDE506674}" type="pres">
      <dgm:prSet presAssocID="{6E3B47E4-D3D6-4A73-89D1-9E36551E2CDB}" presName="connectorText" presStyleLbl="sibTrans2D1" presStyleIdx="1" presStyleCnt="4"/>
      <dgm:spPr/>
    </dgm:pt>
    <dgm:pt modelId="{CE84195F-6457-41C7-8C7C-17A86C994E11}" type="pres">
      <dgm:prSet presAssocID="{70DF8BA3-C354-4B1B-B7EA-D31EB6DB8EA4}" presName="node" presStyleLbl="node1" presStyleIdx="2" presStyleCnt="5">
        <dgm:presLayoutVars>
          <dgm:bulletEnabled val="1"/>
        </dgm:presLayoutVars>
      </dgm:prSet>
      <dgm:spPr/>
    </dgm:pt>
    <dgm:pt modelId="{0C3F6A44-555C-4637-8282-6778C969F1AC}" type="pres">
      <dgm:prSet presAssocID="{1078933C-2D52-4C99-A7E2-8EBCEBE24295}" presName="sibTrans" presStyleLbl="sibTrans2D1" presStyleIdx="2" presStyleCnt="4"/>
      <dgm:spPr/>
    </dgm:pt>
    <dgm:pt modelId="{1A737B97-1C61-42DC-9424-75E7226552A4}" type="pres">
      <dgm:prSet presAssocID="{1078933C-2D52-4C99-A7E2-8EBCEBE24295}" presName="connectorText" presStyleLbl="sibTrans2D1" presStyleIdx="2" presStyleCnt="4"/>
      <dgm:spPr/>
    </dgm:pt>
    <dgm:pt modelId="{E0408C56-A585-41BA-B420-7B02B2B9E400}" type="pres">
      <dgm:prSet presAssocID="{9E4A8CBD-6F47-49A1-A994-53F4F72EF2D1}" presName="node" presStyleLbl="node1" presStyleIdx="3" presStyleCnt="5">
        <dgm:presLayoutVars>
          <dgm:bulletEnabled val="1"/>
        </dgm:presLayoutVars>
      </dgm:prSet>
      <dgm:spPr/>
    </dgm:pt>
    <dgm:pt modelId="{63953CC5-DDD3-4C91-806D-C929B47B46AB}" type="pres">
      <dgm:prSet presAssocID="{A5E173AB-CE9A-4410-9048-2C0BCE13E183}" presName="sibTrans" presStyleLbl="sibTrans2D1" presStyleIdx="3" presStyleCnt="4"/>
      <dgm:spPr/>
    </dgm:pt>
    <dgm:pt modelId="{707970A5-8439-4FA8-9BC4-D15B73474DCE}" type="pres">
      <dgm:prSet presAssocID="{A5E173AB-CE9A-4410-9048-2C0BCE13E183}" presName="connectorText" presStyleLbl="sibTrans2D1" presStyleIdx="3" presStyleCnt="4"/>
      <dgm:spPr/>
    </dgm:pt>
    <dgm:pt modelId="{904D9B25-7F51-4BB3-9124-BCEC898CF04D}" type="pres">
      <dgm:prSet presAssocID="{3B1AA496-70CF-471B-AD7C-643217983BB3}" presName="node" presStyleLbl="node1" presStyleIdx="4" presStyleCnt="5">
        <dgm:presLayoutVars>
          <dgm:bulletEnabled val="1"/>
        </dgm:presLayoutVars>
      </dgm:prSet>
      <dgm:spPr/>
    </dgm:pt>
  </dgm:ptLst>
  <dgm:cxnLst>
    <dgm:cxn modelId="{BB043C04-B998-48D1-942F-C2E41892CE0B}" type="presOf" srcId="{1078933C-2D52-4C99-A7E2-8EBCEBE24295}" destId="{1A737B97-1C61-42DC-9424-75E7226552A4}" srcOrd="1" destOrd="0" presId="urn:microsoft.com/office/officeart/2005/8/layout/process5"/>
    <dgm:cxn modelId="{B210A404-2E77-4C04-9EBB-79F290DCBDF6}" srcId="{75D9D8D5-AFE5-401B-9670-2799FE3C52B9}" destId="{9E4A8CBD-6F47-49A1-A994-53F4F72EF2D1}" srcOrd="3" destOrd="0" parTransId="{919EFD16-3D8D-4AE0-A137-A9682A9383BE}" sibTransId="{A5E173AB-CE9A-4410-9048-2C0BCE13E183}"/>
    <dgm:cxn modelId="{C9A5220A-B41A-46AD-9623-B757A22FB96E}" srcId="{75D9D8D5-AFE5-401B-9670-2799FE3C52B9}" destId="{70DF8BA3-C354-4B1B-B7EA-D31EB6DB8EA4}" srcOrd="2" destOrd="0" parTransId="{47C7A06E-126B-4847-BE58-825A49B7276F}" sibTransId="{1078933C-2D52-4C99-A7E2-8EBCEBE24295}"/>
    <dgm:cxn modelId="{2DDD4713-EBCA-402F-9591-7D0DE9E87688}" type="presOf" srcId="{A5E173AB-CE9A-4410-9048-2C0BCE13E183}" destId="{707970A5-8439-4FA8-9BC4-D15B73474DCE}" srcOrd="1" destOrd="0" presId="urn:microsoft.com/office/officeart/2005/8/layout/process5"/>
    <dgm:cxn modelId="{6EEDDC13-F7E3-4AF3-A3D3-28265227F9DF}" type="presOf" srcId="{596A5403-7CC1-4394-A52D-C5FEC8749A0A}" destId="{CA581BCD-7413-4662-8B7A-EF13DA021E8E}" srcOrd="0" destOrd="0" presId="urn:microsoft.com/office/officeart/2005/8/layout/process5"/>
    <dgm:cxn modelId="{DCA3431B-A55D-412E-9CEB-16EC92A54CAA}" type="presOf" srcId="{CEA9BD17-D39A-4C06-A89F-2F5585CB2C78}" destId="{A022925B-659A-44B0-9D2D-C18AF496805B}" srcOrd="0" destOrd="0" presId="urn:microsoft.com/office/officeart/2005/8/layout/process5"/>
    <dgm:cxn modelId="{BD2CA769-7216-4C3E-8740-D28A12CA3BEA}" type="presOf" srcId="{70DF8BA3-C354-4B1B-B7EA-D31EB6DB8EA4}" destId="{CE84195F-6457-41C7-8C7C-17A86C994E11}" srcOrd="0" destOrd="0" presId="urn:microsoft.com/office/officeart/2005/8/layout/process5"/>
    <dgm:cxn modelId="{B69BAB6E-C42F-4643-A449-1ABF12563FDB}" type="presOf" srcId="{9E4A8CBD-6F47-49A1-A994-53F4F72EF2D1}" destId="{E0408C56-A585-41BA-B420-7B02B2B9E400}" srcOrd="0" destOrd="0" presId="urn:microsoft.com/office/officeart/2005/8/layout/process5"/>
    <dgm:cxn modelId="{D96D0553-DC28-4E95-BA2D-69EB6D0DADDD}" type="presOf" srcId="{6E3B47E4-D3D6-4A73-89D1-9E36551E2CDB}" destId="{1DD175AE-A630-4B69-9C40-E98CDE506674}" srcOrd="1" destOrd="0" presId="urn:microsoft.com/office/officeart/2005/8/layout/process5"/>
    <dgm:cxn modelId="{ABF44F7A-76C6-4ACF-8878-68DCB90EDE19}" type="presOf" srcId="{A5E173AB-CE9A-4410-9048-2C0BCE13E183}" destId="{63953CC5-DDD3-4C91-806D-C929B47B46AB}" srcOrd="0" destOrd="0" presId="urn:microsoft.com/office/officeart/2005/8/layout/process5"/>
    <dgm:cxn modelId="{45F3768C-7192-40DD-A5DE-54A34599F52E}" type="presOf" srcId="{3B1AA496-70CF-471B-AD7C-643217983BB3}" destId="{904D9B25-7F51-4BB3-9124-BCEC898CF04D}" srcOrd="0" destOrd="0" presId="urn:microsoft.com/office/officeart/2005/8/layout/process5"/>
    <dgm:cxn modelId="{FA23849D-CDB3-4373-AC08-37A63A761BE6}" type="presOf" srcId="{CEA9BD17-D39A-4C06-A89F-2F5585CB2C78}" destId="{42A9AA13-91F5-4A39-A709-23092CFEAAF5}" srcOrd="1" destOrd="0" presId="urn:microsoft.com/office/officeart/2005/8/layout/process5"/>
    <dgm:cxn modelId="{9BE7BC9D-6012-4BFB-9DB4-362E3ED00103}" type="presOf" srcId="{6E3B47E4-D3D6-4A73-89D1-9E36551E2CDB}" destId="{3E4F3ACD-D20B-4F0C-A908-B0B5B75E25D8}" srcOrd="0" destOrd="0" presId="urn:microsoft.com/office/officeart/2005/8/layout/process5"/>
    <dgm:cxn modelId="{F1FF2FB6-31EF-40DE-A25B-E0F3F16BE54B}" srcId="{75D9D8D5-AFE5-401B-9670-2799FE3C52B9}" destId="{3B1AA496-70CF-471B-AD7C-643217983BB3}" srcOrd="4" destOrd="0" parTransId="{40A692DC-1B87-444D-A8BC-2908BDC53996}" sibTransId="{45646D4F-555A-4FA7-8369-0123F6EE3B45}"/>
    <dgm:cxn modelId="{4A2FF3BC-1BF0-44E5-8865-2C94AC464A04}" srcId="{75D9D8D5-AFE5-401B-9670-2799FE3C52B9}" destId="{596A5403-7CC1-4394-A52D-C5FEC8749A0A}" srcOrd="1" destOrd="0" parTransId="{2DFA8769-A3C6-470E-A4AC-BA8FFE39CC46}" sibTransId="{6E3B47E4-D3D6-4A73-89D1-9E36551E2CDB}"/>
    <dgm:cxn modelId="{0F581BC2-23F2-4F3B-ADD1-9D0F12B71D98}" type="presOf" srcId="{75D9D8D5-AFE5-401B-9670-2799FE3C52B9}" destId="{B0ECD77B-CCE4-4CF9-9710-C474B9DA24C4}" srcOrd="0" destOrd="0" presId="urn:microsoft.com/office/officeart/2005/8/layout/process5"/>
    <dgm:cxn modelId="{03C9C1C9-D0D1-4919-ADAB-41987D3F8C2A}" srcId="{75D9D8D5-AFE5-401B-9670-2799FE3C52B9}" destId="{95A2E886-1056-416E-8955-B4EF69175E02}" srcOrd="0" destOrd="0" parTransId="{96C2FB00-E3DD-4859-B4E3-B9CA7C47B899}" sibTransId="{CEA9BD17-D39A-4C06-A89F-2F5585CB2C78}"/>
    <dgm:cxn modelId="{27583AE3-37C8-40C9-ACE1-497CA5BBE5E6}" type="presOf" srcId="{1078933C-2D52-4C99-A7E2-8EBCEBE24295}" destId="{0C3F6A44-555C-4637-8282-6778C969F1AC}" srcOrd="0" destOrd="0" presId="urn:microsoft.com/office/officeart/2005/8/layout/process5"/>
    <dgm:cxn modelId="{CC83C5EC-3DED-42F6-85AD-FED53D2F7A42}" type="presOf" srcId="{95A2E886-1056-416E-8955-B4EF69175E02}" destId="{A5FA3C8B-1AC4-43BD-B2D2-4D74BFCAEF10}" srcOrd="0" destOrd="0" presId="urn:microsoft.com/office/officeart/2005/8/layout/process5"/>
    <dgm:cxn modelId="{54DD345E-5B70-48EE-AF84-A5F0193533BB}" type="presParOf" srcId="{B0ECD77B-CCE4-4CF9-9710-C474B9DA24C4}" destId="{A5FA3C8B-1AC4-43BD-B2D2-4D74BFCAEF10}" srcOrd="0" destOrd="0" presId="urn:microsoft.com/office/officeart/2005/8/layout/process5"/>
    <dgm:cxn modelId="{D51AE661-3305-498D-868A-1ECED803C744}" type="presParOf" srcId="{B0ECD77B-CCE4-4CF9-9710-C474B9DA24C4}" destId="{A022925B-659A-44B0-9D2D-C18AF496805B}" srcOrd="1" destOrd="0" presId="urn:microsoft.com/office/officeart/2005/8/layout/process5"/>
    <dgm:cxn modelId="{C6252368-638F-44F7-8B82-FBE553633CAD}" type="presParOf" srcId="{A022925B-659A-44B0-9D2D-C18AF496805B}" destId="{42A9AA13-91F5-4A39-A709-23092CFEAAF5}" srcOrd="0" destOrd="0" presId="urn:microsoft.com/office/officeart/2005/8/layout/process5"/>
    <dgm:cxn modelId="{C7137420-1F16-4254-B7E6-010259D12151}" type="presParOf" srcId="{B0ECD77B-CCE4-4CF9-9710-C474B9DA24C4}" destId="{CA581BCD-7413-4662-8B7A-EF13DA021E8E}" srcOrd="2" destOrd="0" presId="urn:microsoft.com/office/officeart/2005/8/layout/process5"/>
    <dgm:cxn modelId="{CA784008-633C-4624-83CE-6E0282503C7B}" type="presParOf" srcId="{B0ECD77B-CCE4-4CF9-9710-C474B9DA24C4}" destId="{3E4F3ACD-D20B-4F0C-A908-B0B5B75E25D8}" srcOrd="3" destOrd="0" presId="urn:microsoft.com/office/officeart/2005/8/layout/process5"/>
    <dgm:cxn modelId="{E2C660B3-2DC8-4F49-8510-BFE4E4F95C4A}" type="presParOf" srcId="{3E4F3ACD-D20B-4F0C-A908-B0B5B75E25D8}" destId="{1DD175AE-A630-4B69-9C40-E98CDE506674}" srcOrd="0" destOrd="0" presId="urn:microsoft.com/office/officeart/2005/8/layout/process5"/>
    <dgm:cxn modelId="{CC52DF99-277D-47FA-A0CB-FFA20BE9209C}" type="presParOf" srcId="{B0ECD77B-CCE4-4CF9-9710-C474B9DA24C4}" destId="{CE84195F-6457-41C7-8C7C-17A86C994E11}" srcOrd="4" destOrd="0" presId="urn:microsoft.com/office/officeart/2005/8/layout/process5"/>
    <dgm:cxn modelId="{26CBC393-3CC9-4AB7-B810-D64516062C1D}" type="presParOf" srcId="{B0ECD77B-CCE4-4CF9-9710-C474B9DA24C4}" destId="{0C3F6A44-555C-4637-8282-6778C969F1AC}" srcOrd="5" destOrd="0" presId="urn:microsoft.com/office/officeart/2005/8/layout/process5"/>
    <dgm:cxn modelId="{01C9F279-FCB3-4AD8-8F86-150FEEEB9D0D}" type="presParOf" srcId="{0C3F6A44-555C-4637-8282-6778C969F1AC}" destId="{1A737B97-1C61-42DC-9424-75E7226552A4}" srcOrd="0" destOrd="0" presId="urn:microsoft.com/office/officeart/2005/8/layout/process5"/>
    <dgm:cxn modelId="{1302FF45-158C-4C12-8C19-5F4699E4AF72}" type="presParOf" srcId="{B0ECD77B-CCE4-4CF9-9710-C474B9DA24C4}" destId="{E0408C56-A585-41BA-B420-7B02B2B9E400}" srcOrd="6" destOrd="0" presId="urn:microsoft.com/office/officeart/2005/8/layout/process5"/>
    <dgm:cxn modelId="{6640FB29-0F32-4B7A-BF06-7819180A2EEB}" type="presParOf" srcId="{B0ECD77B-CCE4-4CF9-9710-C474B9DA24C4}" destId="{63953CC5-DDD3-4C91-806D-C929B47B46AB}" srcOrd="7" destOrd="0" presId="urn:microsoft.com/office/officeart/2005/8/layout/process5"/>
    <dgm:cxn modelId="{20432650-27F0-48ED-90CB-6FFD07B840E5}" type="presParOf" srcId="{63953CC5-DDD3-4C91-806D-C929B47B46AB}" destId="{707970A5-8439-4FA8-9BC4-D15B73474DCE}" srcOrd="0" destOrd="0" presId="urn:microsoft.com/office/officeart/2005/8/layout/process5"/>
    <dgm:cxn modelId="{40D6F12F-49E1-4632-A52C-66B312FBE9EF}" type="presParOf" srcId="{B0ECD77B-CCE4-4CF9-9710-C474B9DA24C4}" destId="{904D9B25-7F51-4BB3-9124-BCEC898CF04D}"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778DB0-AB56-4D2B-ACF9-9B97454EEC78}"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DBAFBF45-86F9-4984-A9CD-89A276F9063B}">
      <dgm:prSet phldrT="[Text]" phldr="0"/>
      <dgm:spPr/>
      <dgm:t>
        <a:bodyPr/>
        <a:lstStyle/>
        <a:p>
          <a:r>
            <a:rPr lang="en-US" dirty="0"/>
            <a:t>Perform exploratory data analysis </a:t>
          </a:r>
        </a:p>
      </dgm:t>
    </dgm:pt>
    <dgm:pt modelId="{5334F628-EDD3-4EF1-800C-7E899BEB5D52}" type="parTrans" cxnId="{D8ABF86D-7E47-488E-ABAC-DE55B4B9BC96}">
      <dgm:prSet/>
      <dgm:spPr/>
      <dgm:t>
        <a:bodyPr/>
        <a:lstStyle/>
        <a:p>
          <a:endParaRPr lang="en-US"/>
        </a:p>
      </dgm:t>
    </dgm:pt>
    <dgm:pt modelId="{7390C7E3-B036-4138-BA9A-21F91196FADA}" type="sibTrans" cxnId="{D8ABF86D-7E47-488E-ABAC-DE55B4B9BC96}">
      <dgm:prSet/>
      <dgm:spPr/>
      <dgm:t>
        <a:bodyPr/>
        <a:lstStyle/>
        <a:p>
          <a:endParaRPr lang="en-US"/>
        </a:p>
      </dgm:t>
    </dgm:pt>
    <dgm:pt modelId="{3646334A-166B-42B2-B942-EB6196026E3E}">
      <dgm:prSet phldrT="[Text]"/>
      <dgm:spPr/>
      <dgm:t>
        <a:bodyPr/>
        <a:lstStyle/>
        <a:p>
          <a:r>
            <a:rPr lang="en-US" dirty="0"/>
            <a:t>Calculate number of launches per site</a:t>
          </a:r>
        </a:p>
      </dgm:t>
    </dgm:pt>
    <dgm:pt modelId="{A99AA106-90FC-490C-885D-E59E44EDA9B2}" type="parTrans" cxnId="{30AFD842-76AE-4EC0-B853-9A26A266F60B}">
      <dgm:prSet/>
      <dgm:spPr/>
      <dgm:t>
        <a:bodyPr/>
        <a:lstStyle/>
        <a:p>
          <a:endParaRPr lang="en-US"/>
        </a:p>
      </dgm:t>
    </dgm:pt>
    <dgm:pt modelId="{67C9E54C-0EA2-4DB6-9023-4E3978B0B592}" type="sibTrans" cxnId="{30AFD842-76AE-4EC0-B853-9A26A266F60B}">
      <dgm:prSet/>
      <dgm:spPr/>
      <dgm:t>
        <a:bodyPr/>
        <a:lstStyle/>
        <a:p>
          <a:endParaRPr lang="en-US"/>
        </a:p>
      </dgm:t>
    </dgm:pt>
    <dgm:pt modelId="{293F46C5-0818-42FE-84A0-E65972966F7B}">
      <dgm:prSet phldrT="[Text]"/>
      <dgm:spPr/>
      <dgm:t>
        <a:bodyPr/>
        <a:lstStyle/>
        <a:p>
          <a:r>
            <a:rPr lang="en-US" dirty="0"/>
            <a:t>Calculate number and occurrence of each orbit</a:t>
          </a:r>
        </a:p>
      </dgm:t>
    </dgm:pt>
    <dgm:pt modelId="{EDC85E49-C410-46BC-A6A2-4F047565634A}" type="parTrans" cxnId="{2F29B56D-CB9C-4EFD-A4E3-77429CAD91C6}">
      <dgm:prSet/>
      <dgm:spPr/>
      <dgm:t>
        <a:bodyPr/>
        <a:lstStyle/>
        <a:p>
          <a:endParaRPr lang="en-US"/>
        </a:p>
      </dgm:t>
    </dgm:pt>
    <dgm:pt modelId="{C9CA31A8-DDB8-41EC-B3FD-8BDF15255D0D}" type="sibTrans" cxnId="{2F29B56D-CB9C-4EFD-A4E3-77429CAD91C6}">
      <dgm:prSet/>
      <dgm:spPr/>
      <dgm:t>
        <a:bodyPr/>
        <a:lstStyle/>
        <a:p>
          <a:endParaRPr lang="en-US"/>
        </a:p>
      </dgm:t>
    </dgm:pt>
    <dgm:pt modelId="{562F8C71-8EF8-4554-891B-6CA8789D2D14}">
      <dgm:prSet phldrT="[Text]"/>
      <dgm:spPr/>
      <dgm:t>
        <a:bodyPr/>
        <a:lstStyle/>
        <a:p>
          <a:r>
            <a:rPr lang="en-US" dirty="0"/>
            <a:t>Calculate number and occurrence of mission outcome per orbit type</a:t>
          </a:r>
        </a:p>
      </dgm:t>
    </dgm:pt>
    <dgm:pt modelId="{FF8E8AF4-A42A-4D1F-B15C-D4DE3D724209}" type="parTrans" cxnId="{A86B09F0-F6D5-4C1A-BBEA-EAC5294B8F20}">
      <dgm:prSet/>
      <dgm:spPr/>
      <dgm:t>
        <a:bodyPr/>
        <a:lstStyle/>
        <a:p>
          <a:endParaRPr lang="en-US"/>
        </a:p>
      </dgm:t>
    </dgm:pt>
    <dgm:pt modelId="{B85B4AA4-09B4-4F65-ACBC-7320BD7BB0CC}" type="sibTrans" cxnId="{A86B09F0-F6D5-4C1A-BBEA-EAC5294B8F20}">
      <dgm:prSet/>
      <dgm:spPr/>
      <dgm:t>
        <a:bodyPr/>
        <a:lstStyle/>
        <a:p>
          <a:endParaRPr lang="en-US"/>
        </a:p>
      </dgm:t>
    </dgm:pt>
    <dgm:pt modelId="{242C82F3-38D4-4045-92F6-3386DAE283D9}">
      <dgm:prSet phldrT="[Text]"/>
      <dgm:spPr/>
      <dgm:t>
        <a:bodyPr/>
        <a:lstStyle/>
        <a:p>
          <a:r>
            <a:rPr lang="en-US" dirty="0"/>
            <a:t>Add column ‘</a:t>
          </a:r>
          <a:r>
            <a:rPr lang="en-US" dirty="0" err="1"/>
            <a:t>Class’</a:t>
          </a:r>
          <a:r>
            <a:rPr lang="en-US" dirty="0"/>
            <a:t> classifying 0 if a  launch is failed and 1 if it is successful</a:t>
          </a:r>
        </a:p>
      </dgm:t>
    </dgm:pt>
    <dgm:pt modelId="{3D5D76EB-5731-4693-A71F-B4BDFCC9F3D9}" type="parTrans" cxnId="{5BED72FC-F596-473E-8370-9CF7CE09DCCD}">
      <dgm:prSet/>
      <dgm:spPr/>
      <dgm:t>
        <a:bodyPr/>
        <a:lstStyle/>
        <a:p>
          <a:endParaRPr lang="en-US"/>
        </a:p>
      </dgm:t>
    </dgm:pt>
    <dgm:pt modelId="{4790AEF8-AE07-457E-A8A3-02C6201D988C}" type="sibTrans" cxnId="{5BED72FC-F596-473E-8370-9CF7CE09DCCD}">
      <dgm:prSet/>
      <dgm:spPr/>
      <dgm:t>
        <a:bodyPr/>
        <a:lstStyle/>
        <a:p>
          <a:endParaRPr lang="en-US"/>
        </a:p>
      </dgm:t>
    </dgm:pt>
    <dgm:pt modelId="{4E0FCA85-6707-455E-9807-5B58746BD6E9}" type="pres">
      <dgm:prSet presAssocID="{C0778DB0-AB56-4D2B-ACF9-9B97454EEC78}" presName="diagram" presStyleCnt="0">
        <dgm:presLayoutVars>
          <dgm:dir/>
          <dgm:resizeHandles val="exact"/>
        </dgm:presLayoutVars>
      </dgm:prSet>
      <dgm:spPr/>
    </dgm:pt>
    <dgm:pt modelId="{EB217424-815A-46BF-B9E2-16E1A6F8351A}" type="pres">
      <dgm:prSet presAssocID="{DBAFBF45-86F9-4984-A9CD-89A276F9063B}" presName="node" presStyleLbl="node1" presStyleIdx="0" presStyleCnt="5">
        <dgm:presLayoutVars>
          <dgm:bulletEnabled val="1"/>
        </dgm:presLayoutVars>
      </dgm:prSet>
      <dgm:spPr/>
    </dgm:pt>
    <dgm:pt modelId="{C05EB4CD-37BA-47BF-965B-0F49DD82DDA0}" type="pres">
      <dgm:prSet presAssocID="{7390C7E3-B036-4138-BA9A-21F91196FADA}" presName="sibTrans" presStyleLbl="sibTrans2D1" presStyleIdx="0" presStyleCnt="4"/>
      <dgm:spPr/>
    </dgm:pt>
    <dgm:pt modelId="{C4CCDE45-A11D-4C7D-893C-C8DD5EFD544C}" type="pres">
      <dgm:prSet presAssocID="{7390C7E3-B036-4138-BA9A-21F91196FADA}" presName="connectorText" presStyleLbl="sibTrans2D1" presStyleIdx="0" presStyleCnt="4"/>
      <dgm:spPr/>
    </dgm:pt>
    <dgm:pt modelId="{DBB1FBDA-B4C7-40CE-A753-973FED99D19D}" type="pres">
      <dgm:prSet presAssocID="{3646334A-166B-42B2-B942-EB6196026E3E}" presName="node" presStyleLbl="node1" presStyleIdx="1" presStyleCnt="5">
        <dgm:presLayoutVars>
          <dgm:bulletEnabled val="1"/>
        </dgm:presLayoutVars>
      </dgm:prSet>
      <dgm:spPr/>
    </dgm:pt>
    <dgm:pt modelId="{42270DFC-6969-4584-976B-7B04C45DC4B0}" type="pres">
      <dgm:prSet presAssocID="{67C9E54C-0EA2-4DB6-9023-4E3978B0B592}" presName="sibTrans" presStyleLbl="sibTrans2D1" presStyleIdx="1" presStyleCnt="4"/>
      <dgm:spPr/>
    </dgm:pt>
    <dgm:pt modelId="{09AD3127-87E0-46AC-8DA7-CA42CB3F80FA}" type="pres">
      <dgm:prSet presAssocID="{67C9E54C-0EA2-4DB6-9023-4E3978B0B592}" presName="connectorText" presStyleLbl="sibTrans2D1" presStyleIdx="1" presStyleCnt="4"/>
      <dgm:spPr/>
    </dgm:pt>
    <dgm:pt modelId="{45D8C522-4535-45EA-8694-DE07E69F3574}" type="pres">
      <dgm:prSet presAssocID="{293F46C5-0818-42FE-84A0-E65972966F7B}" presName="node" presStyleLbl="node1" presStyleIdx="2" presStyleCnt="5">
        <dgm:presLayoutVars>
          <dgm:bulletEnabled val="1"/>
        </dgm:presLayoutVars>
      </dgm:prSet>
      <dgm:spPr/>
    </dgm:pt>
    <dgm:pt modelId="{61AA9624-8297-4A45-B991-599A6AF8A53D}" type="pres">
      <dgm:prSet presAssocID="{C9CA31A8-DDB8-41EC-B3FD-8BDF15255D0D}" presName="sibTrans" presStyleLbl="sibTrans2D1" presStyleIdx="2" presStyleCnt="4"/>
      <dgm:spPr/>
    </dgm:pt>
    <dgm:pt modelId="{1D5EAA4D-BE9A-4FE3-A448-19482547F1E7}" type="pres">
      <dgm:prSet presAssocID="{C9CA31A8-DDB8-41EC-B3FD-8BDF15255D0D}" presName="connectorText" presStyleLbl="sibTrans2D1" presStyleIdx="2" presStyleCnt="4"/>
      <dgm:spPr/>
    </dgm:pt>
    <dgm:pt modelId="{22FF007C-5269-4144-83D6-1E61A996F0FA}" type="pres">
      <dgm:prSet presAssocID="{562F8C71-8EF8-4554-891B-6CA8789D2D14}" presName="node" presStyleLbl="node1" presStyleIdx="3" presStyleCnt="5">
        <dgm:presLayoutVars>
          <dgm:bulletEnabled val="1"/>
        </dgm:presLayoutVars>
      </dgm:prSet>
      <dgm:spPr/>
    </dgm:pt>
    <dgm:pt modelId="{16EEAF91-1842-4327-A2D4-FF7A8D7336C2}" type="pres">
      <dgm:prSet presAssocID="{B85B4AA4-09B4-4F65-ACBC-7320BD7BB0CC}" presName="sibTrans" presStyleLbl="sibTrans2D1" presStyleIdx="3" presStyleCnt="4"/>
      <dgm:spPr/>
    </dgm:pt>
    <dgm:pt modelId="{289C2117-A8A6-4292-84DE-9B069D727425}" type="pres">
      <dgm:prSet presAssocID="{B85B4AA4-09B4-4F65-ACBC-7320BD7BB0CC}" presName="connectorText" presStyleLbl="sibTrans2D1" presStyleIdx="3" presStyleCnt="4"/>
      <dgm:spPr/>
    </dgm:pt>
    <dgm:pt modelId="{99AFFC46-703D-4EAB-9A8F-7CEB9708461C}" type="pres">
      <dgm:prSet presAssocID="{242C82F3-38D4-4045-92F6-3386DAE283D9}" presName="node" presStyleLbl="node1" presStyleIdx="4" presStyleCnt="5">
        <dgm:presLayoutVars>
          <dgm:bulletEnabled val="1"/>
        </dgm:presLayoutVars>
      </dgm:prSet>
      <dgm:spPr/>
    </dgm:pt>
  </dgm:ptLst>
  <dgm:cxnLst>
    <dgm:cxn modelId="{59CC4D04-10E7-447C-92A9-F937568CD5BB}" type="presOf" srcId="{7390C7E3-B036-4138-BA9A-21F91196FADA}" destId="{C05EB4CD-37BA-47BF-965B-0F49DD82DDA0}" srcOrd="0" destOrd="0" presId="urn:microsoft.com/office/officeart/2005/8/layout/process5"/>
    <dgm:cxn modelId="{4BAF240A-8265-41B6-B66F-2550D76FE238}" type="presOf" srcId="{67C9E54C-0EA2-4DB6-9023-4E3978B0B592}" destId="{09AD3127-87E0-46AC-8DA7-CA42CB3F80FA}" srcOrd="1" destOrd="0" presId="urn:microsoft.com/office/officeart/2005/8/layout/process5"/>
    <dgm:cxn modelId="{B0F1911A-2BF6-4F1E-A118-1815F95022A3}" type="presOf" srcId="{C9CA31A8-DDB8-41EC-B3FD-8BDF15255D0D}" destId="{61AA9624-8297-4A45-B991-599A6AF8A53D}" srcOrd="0" destOrd="0" presId="urn:microsoft.com/office/officeart/2005/8/layout/process5"/>
    <dgm:cxn modelId="{2FAC6C20-C9A4-47B6-BA05-45820E0DCA7D}" type="presOf" srcId="{242C82F3-38D4-4045-92F6-3386DAE283D9}" destId="{99AFFC46-703D-4EAB-9A8F-7CEB9708461C}" srcOrd="0" destOrd="0" presId="urn:microsoft.com/office/officeart/2005/8/layout/process5"/>
    <dgm:cxn modelId="{0F1B5024-918E-40A2-AD79-3E06ADF5E56A}" type="presOf" srcId="{C0778DB0-AB56-4D2B-ACF9-9B97454EEC78}" destId="{4E0FCA85-6707-455E-9807-5B58746BD6E9}" srcOrd="0" destOrd="0" presId="urn:microsoft.com/office/officeart/2005/8/layout/process5"/>
    <dgm:cxn modelId="{785FCD2C-42CC-4EA7-B51B-8FD2F0D7B007}" type="presOf" srcId="{562F8C71-8EF8-4554-891B-6CA8789D2D14}" destId="{22FF007C-5269-4144-83D6-1E61A996F0FA}" srcOrd="0" destOrd="0" presId="urn:microsoft.com/office/officeart/2005/8/layout/process5"/>
    <dgm:cxn modelId="{11CD7534-BE8F-4042-8407-82DBA603A70A}" type="presOf" srcId="{293F46C5-0818-42FE-84A0-E65972966F7B}" destId="{45D8C522-4535-45EA-8694-DE07E69F3574}" srcOrd="0" destOrd="0" presId="urn:microsoft.com/office/officeart/2005/8/layout/process5"/>
    <dgm:cxn modelId="{30DD573D-0EDE-44BA-ACCC-CC8DE1E25608}" type="presOf" srcId="{67C9E54C-0EA2-4DB6-9023-4E3978B0B592}" destId="{42270DFC-6969-4584-976B-7B04C45DC4B0}" srcOrd="0" destOrd="0" presId="urn:microsoft.com/office/officeart/2005/8/layout/process5"/>
    <dgm:cxn modelId="{30AFD842-76AE-4EC0-B853-9A26A266F60B}" srcId="{C0778DB0-AB56-4D2B-ACF9-9B97454EEC78}" destId="{3646334A-166B-42B2-B942-EB6196026E3E}" srcOrd="1" destOrd="0" parTransId="{A99AA106-90FC-490C-885D-E59E44EDA9B2}" sibTransId="{67C9E54C-0EA2-4DB6-9023-4E3978B0B592}"/>
    <dgm:cxn modelId="{2F29B56D-CB9C-4EFD-A4E3-77429CAD91C6}" srcId="{C0778DB0-AB56-4D2B-ACF9-9B97454EEC78}" destId="{293F46C5-0818-42FE-84A0-E65972966F7B}" srcOrd="2" destOrd="0" parTransId="{EDC85E49-C410-46BC-A6A2-4F047565634A}" sibTransId="{C9CA31A8-DDB8-41EC-B3FD-8BDF15255D0D}"/>
    <dgm:cxn modelId="{D8ABF86D-7E47-488E-ABAC-DE55B4B9BC96}" srcId="{C0778DB0-AB56-4D2B-ACF9-9B97454EEC78}" destId="{DBAFBF45-86F9-4984-A9CD-89A276F9063B}" srcOrd="0" destOrd="0" parTransId="{5334F628-EDD3-4EF1-800C-7E899BEB5D52}" sibTransId="{7390C7E3-B036-4138-BA9A-21F91196FADA}"/>
    <dgm:cxn modelId="{A2441370-D970-49CC-B061-8A4F9BE524FD}" type="presOf" srcId="{B85B4AA4-09B4-4F65-ACBC-7320BD7BB0CC}" destId="{16EEAF91-1842-4327-A2D4-FF7A8D7336C2}" srcOrd="0" destOrd="0" presId="urn:microsoft.com/office/officeart/2005/8/layout/process5"/>
    <dgm:cxn modelId="{6CB8DC77-2A75-4A06-AFB2-578A7437B838}" type="presOf" srcId="{C9CA31A8-DDB8-41EC-B3FD-8BDF15255D0D}" destId="{1D5EAA4D-BE9A-4FE3-A448-19482547F1E7}" srcOrd="1" destOrd="0" presId="urn:microsoft.com/office/officeart/2005/8/layout/process5"/>
    <dgm:cxn modelId="{F8D0829E-8415-4928-BCDD-E98C2D369B50}" type="presOf" srcId="{B85B4AA4-09B4-4F65-ACBC-7320BD7BB0CC}" destId="{289C2117-A8A6-4292-84DE-9B069D727425}" srcOrd="1" destOrd="0" presId="urn:microsoft.com/office/officeart/2005/8/layout/process5"/>
    <dgm:cxn modelId="{AB2B75D5-D658-42B6-8C9E-FE9E8BC5962D}" type="presOf" srcId="{7390C7E3-B036-4138-BA9A-21F91196FADA}" destId="{C4CCDE45-A11D-4C7D-893C-C8DD5EFD544C}" srcOrd="1" destOrd="0" presId="urn:microsoft.com/office/officeart/2005/8/layout/process5"/>
    <dgm:cxn modelId="{89DA70DD-3607-4038-863F-C5242F61FCD2}" type="presOf" srcId="{3646334A-166B-42B2-B942-EB6196026E3E}" destId="{DBB1FBDA-B4C7-40CE-A753-973FED99D19D}" srcOrd="0" destOrd="0" presId="urn:microsoft.com/office/officeart/2005/8/layout/process5"/>
    <dgm:cxn modelId="{5A9D1AE6-0347-4BE2-B382-33CAFEF3A47B}" type="presOf" srcId="{DBAFBF45-86F9-4984-A9CD-89A276F9063B}" destId="{EB217424-815A-46BF-B9E2-16E1A6F8351A}" srcOrd="0" destOrd="0" presId="urn:microsoft.com/office/officeart/2005/8/layout/process5"/>
    <dgm:cxn modelId="{A86B09F0-F6D5-4C1A-BBEA-EAC5294B8F20}" srcId="{C0778DB0-AB56-4D2B-ACF9-9B97454EEC78}" destId="{562F8C71-8EF8-4554-891B-6CA8789D2D14}" srcOrd="3" destOrd="0" parTransId="{FF8E8AF4-A42A-4D1F-B15C-D4DE3D724209}" sibTransId="{B85B4AA4-09B4-4F65-ACBC-7320BD7BB0CC}"/>
    <dgm:cxn modelId="{5BED72FC-F596-473E-8370-9CF7CE09DCCD}" srcId="{C0778DB0-AB56-4D2B-ACF9-9B97454EEC78}" destId="{242C82F3-38D4-4045-92F6-3386DAE283D9}" srcOrd="4" destOrd="0" parTransId="{3D5D76EB-5731-4693-A71F-B4BDFCC9F3D9}" sibTransId="{4790AEF8-AE07-457E-A8A3-02C6201D988C}"/>
    <dgm:cxn modelId="{AB17B8EE-E924-483E-8A82-9C5029A3EB5D}" type="presParOf" srcId="{4E0FCA85-6707-455E-9807-5B58746BD6E9}" destId="{EB217424-815A-46BF-B9E2-16E1A6F8351A}" srcOrd="0" destOrd="0" presId="urn:microsoft.com/office/officeart/2005/8/layout/process5"/>
    <dgm:cxn modelId="{0F7AEB9F-76C4-4E25-81A8-20A3AD98FDAE}" type="presParOf" srcId="{4E0FCA85-6707-455E-9807-5B58746BD6E9}" destId="{C05EB4CD-37BA-47BF-965B-0F49DD82DDA0}" srcOrd="1" destOrd="0" presId="urn:microsoft.com/office/officeart/2005/8/layout/process5"/>
    <dgm:cxn modelId="{5CAC9EA9-615A-4A8B-85FC-C67F1E50A404}" type="presParOf" srcId="{C05EB4CD-37BA-47BF-965B-0F49DD82DDA0}" destId="{C4CCDE45-A11D-4C7D-893C-C8DD5EFD544C}" srcOrd="0" destOrd="0" presId="urn:microsoft.com/office/officeart/2005/8/layout/process5"/>
    <dgm:cxn modelId="{2A5CBB49-32EA-451D-BB51-A4B19FDA398A}" type="presParOf" srcId="{4E0FCA85-6707-455E-9807-5B58746BD6E9}" destId="{DBB1FBDA-B4C7-40CE-A753-973FED99D19D}" srcOrd="2" destOrd="0" presId="urn:microsoft.com/office/officeart/2005/8/layout/process5"/>
    <dgm:cxn modelId="{E2993418-3FFE-4297-906C-226480272524}" type="presParOf" srcId="{4E0FCA85-6707-455E-9807-5B58746BD6E9}" destId="{42270DFC-6969-4584-976B-7B04C45DC4B0}" srcOrd="3" destOrd="0" presId="urn:microsoft.com/office/officeart/2005/8/layout/process5"/>
    <dgm:cxn modelId="{4B7E4ECF-5A74-4143-B1F2-6DDD910F03FF}" type="presParOf" srcId="{42270DFC-6969-4584-976B-7B04C45DC4B0}" destId="{09AD3127-87E0-46AC-8DA7-CA42CB3F80FA}" srcOrd="0" destOrd="0" presId="urn:microsoft.com/office/officeart/2005/8/layout/process5"/>
    <dgm:cxn modelId="{496B34A1-6BD4-4CE7-A766-EAA18E838BBC}" type="presParOf" srcId="{4E0FCA85-6707-455E-9807-5B58746BD6E9}" destId="{45D8C522-4535-45EA-8694-DE07E69F3574}" srcOrd="4" destOrd="0" presId="urn:microsoft.com/office/officeart/2005/8/layout/process5"/>
    <dgm:cxn modelId="{73AABC67-4F6F-4E07-81AD-E6DC4E482CCD}" type="presParOf" srcId="{4E0FCA85-6707-455E-9807-5B58746BD6E9}" destId="{61AA9624-8297-4A45-B991-599A6AF8A53D}" srcOrd="5" destOrd="0" presId="urn:microsoft.com/office/officeart/2005/8/layout/process5"/>
    <dgm:cxn modelId="{2801D58F-CC8C-4B83-B32C-289249EE4305}" type="presParOf" srcId="{61AA9624-8297-4A45-B991-599A6AF8A53D}" destId="{1D5EAA4D-BE9A-4FE3-A448-19482547F1E7}" srcOrd="0" destOrd="0" presId="urn:microsoft.com/office/officeart/2005/8/layout/process5"/>
    <dgm:cxn modelId="{16CA7C1A-81B6-4E3B-BFCD-75768FCE7779}" type="presParOf" srcId="{4E0FCA85-6707-455E-9807-5B58746BD6E9}" destId="{22FF007C-5269-4144-83D6-1E61A996F0FA}" srcOrd="6" destOrd="0" presId="urn:microsoft.com/office/officeart/2005/8/layout/process5"/>
    <dgm:cxn modelId="{6E54A427-75D5-47F4-8DAF-2B3CC0CD7C8A}" type="presParOf" srcId="{4E0FCA85-6707-455E-9807-5B58746BD6E9}" destId="{16EEAF91-1842-4327-A2D4-FF7A8D7336C2}" srcOrd="7" destOrd="0" presId="urn:microsoft.com/office/officeart/2005/8/layout/process5"/>
    <dgm:cxn modelId="{A2B6B5CB-3212-4E30-857D-5166DD55302B}" type="presParOf" srcId="{16EEAF91-1842-4327-A2D4-FF7A8D7336C2}" destId="{289C2117-A8A6-4292-84DE-9B069D727425}" srcOrd="0" destOrd="0" presId="urn:microsoft.com/office/officeart/2005/8/layout/process5"/>
    <dgm:cxn modelId="{D5BB77AE-57D7-4431-96B0-253A78FCDDA5}" type="presParOf" srcId="{4E0FCA85-6707-455E-9807-5B58746BD6E9}" destId="{99AFFC46-703D-4EAB-9A8F-7CEB9708461C}"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71CF69-9585-48BD-81B2-28D8CCF3F5F4}"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E0D24C04-4DED-4BFA-81D7-CDBC6B72B316}">
      <dgm:prSet phldrT="[Text]" phldr="0" custT="1"/>
      <dgm:spPr/>
      <dgm:t>
        <a:bodyPr/>
        <a:lstStyle/>
        <a:p>
          <a:r>
            <a:rPr lang="en-US" sz="1700" b="1" dirty="0"/>
            <a:t>Standardize</a:t>
          </a:r>
        </a:p>
        <a:p>
          <a:r>
            <a:rPr lang="en-US" sz="1500" dirty="0"/>
            <a:t>Standardize the data using</a:t>
          </a:r>
        </a:p>
        <a:p>
          <a:r>
            <a:rPr lang="en-US" sz="1400" dirty="0"/>
            <a:t>transform = </a:t>
          </a:r>
          <a:r>
            <a:rPr lang="en-US" sz="1400" dirty="0" err="1"/>
            <a:t>preprocessing.StandardScaler</a:t>
          </a:r>
          <a:r>
            <a:rPr lang="en-US" sz="1400" dirty="0"/>
            <a:t>()</a:t>
          </a:r>
        </a:p>
        <a:p>
          <a:pPr>
            <a:buNone/>
          </a:pPr>
          <a:r>
            <a:rPr lang="fr-FR" sz="1400" dirty="0"/>
            <a:t>X = </a:t>
          </a:r>
          <a:r>
            <a:rPr lang="fr-FR" sz="1400" dirty="0" err="1"/>
            <a:t>transform.fit</a:t>
          </a:r>
          <a:r>
            <a:rPr lang="fr-FR" sz="1400" dirty="0"/>
            <a:t>(X).</a:t>
          </a:r>
          <a:r>
            <a:rPr lang="fr-FR" sz="1400" dirty="0" err="1"/>
            <a:t>transform</a:t>
          </a:r>
          <a:r>
            <a:rPr lang="fr-FR" sz="1400" dirty="0"/>
            <a:t>(X)</a:t>
          </a:r>
          <a:endParaRPr lang="en-US" sz="1400" dirty="0"/>
        </a:p>
      </dgm:t>
    </dgm:pt>
    <dgm:pt modelId="{4E9A2C77-DA20-4C42-AEFF-152630976AA4}" type="parTrans" cxnId="{7660AD53-679E-40F7-B7BC-8D3479AF9C49}">
      <dgm:prSet/>
      <dgm:spPr/>
      <dgm:t>
        <a:bodyPr/>
        <a:lstStyle/>
        <a:p>
          <a:endParaRPr lang="en-US"/>
        </a:p>
      </dgm:t>
    </dgm:pt>
    <dgm:pt modelId="{1F902043-CDAF-46B8-9823-8060E5690A95}" type="sibTrans" cxnId="{7660AD53-679E-40F7-B7BC-8D3479AF9C49}">
      <dgm:prSet/>
      <dgm:spPr/>
      <dgm:t>
        <a:bodyPr/>
        <a:lstStyle/>
        <a:p>
          <a:endParaRPr lang="en-US"/>
        </a:p>
      </dgm:t>
    </dgm:pt>
    <dgm:pt modelId="{7EB18AAC-2761-4B99-8AC1-1F505FEAE9DB}">
      <dgm:prSet phldrT="[Text]" phldr="0" custT="1"/>
      <dgm:spPr/>
      <dgm:t>
        <a:bodyPr/>
        <a:lstStyle/>
        <a:p>
          <a:r>
            <a:rPr lang="en-US" sz="1700" b="1" dirty="0"/>
            <a:t>Split</a:t>
          </a:r>
        </a:p>
        <a:p>
          <a:r>
            <a:rPr lang="en-US" sz="1500" dirty="0"/>
            <a:t>Split the data into training and test data using</a:t>
          </a:r>
        </a:p>
        <a:p>
          <a:r>
            <a:rPr lang="en-US" sz="1500" dirty="0" err="1"/>
            <a:t>X_train</a:t>
          </a:r>
          <a:r>
            <a:rPr lang="en-US" sz="1500" dirty="0"/>
            <a:t>, </a:t>
          </a:r>
          <a:r>
            <a:rPr lang="en-US" sz="1500" dirty="0" err="1"/>
            <a:t>X_test</a:t>
          </a:r>
          <a:r>
            <a:rPr lang="en-US" sz="1500" dirty="0"/>
            <a:t>, </a:t>
          </a:r>
          <a:r>
            <a:rPr lang="en-US" sz="1500" dirty="0" err="1"/>
            <a:t>Y_train</a:t>
          </a:r>
          <a:r>
            <a:rPr lang="en-US" sz="1500" dirty="0"/>
            <a:t>, </a:t>
          </a:r>
          <a:r>
            <a:rPr lang="en-US" sz="1500" dirty="0" err="1"/>
            <a:t>Y_test</a:t>
          </a:r>
          <a:r>
            <a:rPr lang="en-US" sz="1500" dirty="0"/>
            <a:t> = </a:t>
          </a:r>
          <a:r>
            <a:rPr lang="en-US" sz="1500" dirty="0" err="1"/>
            <a:t>train_test_split</a:t>
          </a:r>
          <a:r>
            <a:rPr lang="en-US" sz="1500" dirty="0"/>
            <a:t>( X, Y, </a:t>
          </a:r>
          <a:r>
            <a:rPr lang="en-US" sz="1500" dirty="0" err="1"/>
            <a:t>test_size</a:t>
          </a:r>
          <a:r>
            <a:rPr lang="en-US" sz="1500" dirty="0"/>
            <a:t>=0.2, </a:t>
          </a:r>
          <a:r>
            <a:rPr lang="en-US" sz="1500" dirty="0" err="1"/>
            <a:t>random_state</a:t>
          </a:r>
          <a:r>
            <a:rPr lang="en-US" sz="1500" dirty="0"/>
            <a:t>=2)</a:t>
          </a:r>
        </a:p>
      </dgm:t>
    </dgm:pt>
    <dgm:pt modelId="{DFB4F5CF-9F56-47EE-BEE4-52E0D68E67E2}" type="parTrans" cxnId="{DE00CAA6-A550-472F-B4B2-43E11CAD6D5C}">
      <dgm:prSet/>
      <dgm:spPr/>
      <dgm:t>
        <a:bodyPr/>
        <a:lstStyle/>
        <a:p>
          <a:endParaRPr lang="en-US"/>
        </a:p>
      </dgm:t>
    </dgm:pt>
    <dgm:pt modelId="{F6331D31-5565-4F31-8F8B-86DDC1ED089D}" type="sibTrans" cxnId="{DE00CAA6-A550-472F-B4B2-43E11CAD6D5C}">
      <dgm:prSet/>
      <dgm:spPr/>
      <dgm:t>
        <a:bodyPr/>
        <a:lstStyle/>
        <a:p>
          <a:endParaRPr lang="en-US"/>
        </a:p>
      </dgm:t>
    </dgm:pt>
    <dgm:pt modelId="{8294822A-B6B3-49B3-BED7-9F597A1EDB69}">
      <dgm:prSet phldrT="[Text]" phldr="0" custT="1"/>
      <dgm:spPr/>
      <dgm:t>
        <a:bodyPr/>
        <a:lstStyle/>
        <a:p>
          <a:r>
            <a:rPr lang="en-US" sz="1700" b="1" dirty="0"/>
            <a:t>Create and Optimize</a:t>
          </a:r>
        </a:p>
        <a:p>
          <a:r>
            <a:rPr lang="en-US" sz="1200" dirty="0"/>
            <a:t>Create model object and parameters dictionary using</a:t>
          </a:r>
        </a:p>
        <a:p>
          <a:r>
            <a:rPr lang="en-US" sz="1200" dirty="0"/>
            <a:t>parameters ={"C":[0.01,0.1,1],'penalty':['l2'], 'solver':['</a:t>
          </a:r>
          <a:r>
            <a:rPr lang="en-US" sz="1200" dirty="0" err="1"/>
            <a:t>lbfgs</a:t>
          </a:r>
          <a:r>
            <a:rPr lang="en-US" sz="1200" dirty="0"/>
            <a:t>']}# l1 lasso l2 ridge</a:t>
          </a:r>
        </a:p>
        <a:p>
          <a:pPr>
            <a:buNone/>
          </a:pPr>
          <a:r>
            <a:rPr lang="en-US" sz="1200" dirty="0" err="1"/>
            <a:t>lr</a:t>
          </a:r>
          <a:r>
            <a:rPr lang="en-US" sz="1200" dirty="0"/>
            <a:t>=LogisticRegression()</a:t>
          </a:r>
        </a:p>
        <a:p>
          <a:pPr>
            <a:buNone/>
          </a:pPr>
          <a:r>
            <a:rPr lang="en-US" sz="1200" dirty="0" err="1"/>
            <a:t>logreg_cv</a:t>
          </a:r>
          <a:r>
            <a:rPr lang="en-US" sz="1200" dirty="0"/>
            <a:t> = </a:t>
          </a:r>
          <a:r>
            <a:rPr lang="en-US" sz="1200" dirty="0" err="1"/>
            <a:t>GridSearchCV</a:t>
          </a:r>
          <a:r>
            <a:rPr lang="en-US" sz="1200" dirty="0"/>
            <a:t>(</a:t>
          </a:r>
          <a:r>
            <a:rPr lang="en-US" sz="1200" dirty="0" err="1"/>
            <a:t>lr</a:t>
          </a:r>
          <a:r>
            <a:rPr lang="en-US" sz="1200" dirty="0"/>
            <a:t>, parameters, cv=10)</a:t>
          </a:r>
        </a:p>
      </dgm:t>
    </dgm:pt>
    <dgm:pt modelId="{7E2E5112-D2C7-4A6B-B7BA-38651C07B22D}" type="parTrans" cxnId="{EC51EE02-1ACE-4E2A-AA7D-C4DD5A6FD682}">
      <dgm:prSet/>
      <dgm:spPr/>
      <dgm:t>
        <a:bodyPr/>
        <a:lstStyle/>
        <a:p>
          <a:endParaRPr lang="en-US"/>
        </a:p>
      </dgm:t>
    </dgm:pt>
    <dgm:pt modelId="{48597FEF-C023-4E72-AE14-68F6EB74A50F}" type="sibTrans" cxnId="{EC51EE02-1ACE-4E2A-AA7D-C4DD5A6FD682}">
      <dgm:prSet/>
      <dgm:spPr/>
      <dgm:t>
        <a:bodyPr/>
        <a:lstStyle/>
        <a:p>
          <a:endParaRPr lang="en-US"/>
        </a:p>
      </dgm:t>
    </dgm:pt>
    <dgm:pt modelId="{57019D3B-FF53-401A-B641-E41B2444BA39}">
      <dgm:prSet phldrT="[Text]" phldr="0" custT="1"/>
      <dgm:spPr/>
      <dgm:t>
        <a:bodyPr/>
        <a:lstStyle/>
        <a:p>
          <a:r>
            <a:rPr lang="en-US" sz="1700" b="1" dirty="0"/>
            <a:t>Train</a:t>
          </a:r>
        </a:p>
        <a:p>
          <a:r>
            <a:rPr lang="en-US" sz="1500" b="0" dirty="0"/>
            <a:t>Train the model using</a:t>
          </a:r>
        </a:p>
        <a:p>
          <a:r>
            <a:rPr lang="fr-FR" sz="1400" dirty="0" err="1"/>
            <a:t>logreg_cv.fit</a:t>
          </a:r>
          <a:r>
            <a:rPr lang="fr-FR" sz="1400" dirty="0"/>
            <a:t>(</a:t>
          </a:r>
          <a:r>
            <a:rPr lang="fr-FR" sz="1400" dirty="0" err="1"/>
            <a:t>X_train</a:t>
          </a:r>
          <a:r>
            <a:rPr lang="fr-FR" sz="1400" dirty="0"/>
            <a:t>, </a:t>
          </a:r>
          <a:r>
            <a:rPr lang="fr-FR" sz="1400" dirty="0" err="1"/>
            <a:t>Y_train</a:t>
          </a:r>
          <a:r>
            <a:rPr lang="fr-FR" sz="1400" dirty="0"/>
            <a:t>)</a:t>
          </a:r>
          <a:endParaRPr lang="en-US" sz="1400" dirty="0"/>
        </a:p>
      </dgm:t>
    </dgm:pt>
    <dgm:pt modelId="{E5D00D05-9E4F-4BBC-BFCB-BF6A4EF996B4}" type="parTrans" cxnId="{75CAA662-136D-4014-A797-2A492C37FA19}">
      <dgm:prSet/>
      <dgm:spPr/>
      <dgm:t>
        <a:bodyPr/>
        <a:lstStyle/>
        <a:p>
          <a:endParaRPr lang="en-US"/>
        </a:p>
      </dgm:t>
    </dgm:pt>
    <dgm:pt modelId="{FB14FA2E-566E-4155-BF3C-9B6EFD2A8F84}" type="sibTrans" cxnId="{75CAA662-136D-4014-A797-2A492C37FA19}">
      <dgm:prSet/>
      <dgm:spPr/>
      <dgm:t>
        <a:bodyPr/>
        <a:lstStyle/>
        <a:p>
          <a:endParaRPr lang="en-US"/>
        </a:p>
      </dgm:t>
    </dgm:pt>
    <dgm:pt modelId="{75F41DF8-B2CE-419B-BA9D-443D6805EC34}">
      <dgm:prSet phldrT="[Text]" phldr="0" custT="1"/>
      <dgm:spPr/>
      <dgm:t>
        <a:bodyPr/>
        <a:lstStyle/>
        <a:p>
          <a:r>
            <a:rPr lang="en-US" sz="1700" b="1" dirty="0"/>
            <a:t>Evaluate</a:t>
          </a:r>
        </a:p>
        <a:p>
          <a:r>
            <a:rPr lang="en-US" sz="1400" dirty="0"/>
            <a:t>Evaluate the accuracy of the model using</a:t>
          </a:r>
        </a:p>
        <a:p>
          <a:r>
            <a:rPr lang="en-US" sz="1400" dirty="0" err="1"/>
            <a:t>lr_optimized</a:t>
          </a:r>
          <a:r>
            <a:rPr lang="en-US" sz="1400" dirty="0"/>
            <a:t> = LogisticRegression(C=0.1, penalty='l2', solver='</a:t>
          </a:r>
          <a:r>
            <a:rPr lang="en-US" sz="1400" dirty="0" err="1"/>
            <a:t>lbfgs</a:t>
          </a:r>
          <a:r>
            <a:rPr lang="en-US" sz="1400" dirty="0"/>
            <a:t>').fit(</a:t>
          </a:r>
          <a:r>
            <a:rPr lang="en-US" sz="1400" dirty="0" err="1"/>
            <a:t>X_train</a:t>
          </a:r>
          <a:r>
            <a:rPr lang="en-US" sz="1400" dirty="0"/>
            <a:t>, </a:t>
          </a:r>
          <a:r>
            <a:rPr lang="en-US" sz="1400" dirty="0" err="1"/>
            <a:t>Y_train</a:t>
          </a:r>
          <a:r>
            <a:rPr lang="en-US" sz="1400" dirty="0"/>
            <a:t>)</a:t>
          </a:r>
        </a:p>
        <a:p>
          <a:pPr>
            <a:buNone/>
          </a:pPr>
          <a:r>
            <a:rPr lang="en-US" sz="1400" dirty="0" err="1"/>
            <a:t>lr_score</a:t>
          </a:r>
          <a:r>
            <a:rPr lang="en-US" sz="1400" dirty="0"/>
            <a:t> = </a:t>
          </a:r>
          <a:r>
            <a:rPr lang="en-US" sz="1400" dirty="0" err="1"/>
            <a:t>lr_optimized.score</a:t>
          </a:r>
          <a:r>
            <a:rPr lang="en-US" sz="1400" dirty="0"/>
            <a:t>(</a:t>
          </a:r>
          <a:r>
            <a:rPr lang="en-US" sz="1400" dirty="0" err="1"/>
            <a:t>X_test</a:t>
          </a:r>
          <a:r>
            <a:rPr lang="en-US" sz="1400" dirty="0"/>
            <a:t>, </a:t>
          </a:r>
          <a:r>
            <a:rPr lang="en-US" sz="1400" dirty="0" err="1"/>
            <a:t>Y_test</a:t>
          </a:r>
          <a:r>
            <a:rPr lang="en-US" sz="1400" dirty="0"/>
            <a:t>)</a:t>
          </a:r>
        </a:p>
        <a:p>
          <a:pPr>
            <a:buNone/>
          </a:pPr>
          <a:r>
            <a:rPr lang="en-US" sz="1400" dirty="0"/>
            <a:t>print('Accuracy Score: {}' .format(</a:t>
          </a:r>
          <a:r>
            <a:rPr lang="en-US" sz="1400" dirty="0" err="1"/>
            <a:t>lr_score</a:t>
          </a:r>
          <a:r>
            <a:rPr lang="en-US" sz="1400" dirty="0"/>
            <a:t>))</a:t>
          </a:r>
        </a:p>
      </dgm:t>
    </dgm:pt>
    <dgm:pt modelId="{6D0AE98E-1DB5-4892-AAAC-07721200033C}" type="parTrans" cxnId="{E3871905-88D2-49C4-8301-347F248BDA13}">
      <dgm:prSet/>
      <dgm:spPr/>
      <dgm:t>
        <a:bodyPr/>
        <a:lstStyle/>
        <a:p>
          <a:endParaRPr lang="en-US"/>
        </a:p>
      </dgm:t>
    </dgm:pt>
    <dgm:pt modelId="{56EEAC24-FDF5-4863-9684-64E45CB07836}" type="sibTrans" cxnId="{E3871905-88D2-49C4-8301-347F248BDA13}">
      <dgm:prSet/>
      <dgm:spPr/>
      <dgm:t>
        <a:bodyPr/>
        <a:lstStyle/>
        <a:p>
          <a:endParaRPr lang="en-US"/>
        </a:p>
      </dgm:t>
    </dgm:pt>
    <dgm:pt modelId="{B90452A7-19EA-4E2E-8491-4F26ACDE3FA5}" type="pres">
      <dgm:prSet presAssocID="{B471CF69-9585-48BD-81B2-28D8CCF3F5F4}" presName="diagram" presStyleCnt="0">
        <dgm:presLayoutVars>
          <dgm:dir/>
          <dgm:resizeHandles val="exact"/>
        </dgm:presLayoutVars>
      </dgm:prSet>
      <dgm:spPr/>
    </dgm:pt>
    <dgm:pt modelId="{5149D3A5-A6A3-4F1F-8826-51DB6896761C}" type="pres">
      <dgm:prSet presAssocID="{E0D24C04-4DED-4BFA-81D7-CDBC6B72B316}" presName="node" presStyleLbl="node1" presStyleIdx="0" presStyleCnt="5" custScaleX="135092">
        <dgm:presLayoutVars>
          <dgm:bulletEnabled val="1"/>
        </dgm:presLayoutVars>
      </dgm:prSet>
      <dgm:spPr/>
    </dgm:pt>
    <dgm:pt modelId="{86CF5458-A9FE-4655-A646-720670919B2D}" type="pres">
      <dgm:prSet presAssocID="{1F902043-CDAF-46B8-9823-8060E5690A95}" presName="sibTrans" presStyleCnt="0"/>
      <dgm:spPr/>
    </dgm:pt>
    <dgm:pt modelId="{71CA66B7-7908-4B89-95CA-3B6B348EA2EB}" type="pres">
      <dgm:prSet presAssocID="{7EB18AAC-2761-4B99-8AC1-1F505FEAE9DB}" presName="node" presStyleLbl="node1" presStyleIdx="1" presStyleCnt="5" custScaleX="142395">
        <dgm:presLayoutVars>
          <dgm:bulletEnabled val="1"/>
        </dgm:presLayoutVars>
      </dgm:prSet>
      <dgm:spPr/>
    </dgm:pt>
    <dgm:pt modelId="{143EFC3B-CDB2-479A-B40F-E60DF3752644}" type="pres">
      <dgm:prSet presAssocID="{F6331D31-5565-4F31-8F8B-86DDC1ED089D}" presName="sibTrans" presStyleCnt="0"/>
      <dgm:spPr/>
    </dgm:pt>
    <dgm:pt modelId="{74406552-0DEF-4596-B669-9514D6B7B3C7}" type="pres">
      <dgm:prSet presAssocID="{8294822A-B6B3-49B3-BED7-9F597A1EDB69}" presName="node" presStyleLbl="node1" presStyleIdx="2" presStyleCnt="5" custScaleX="133988" custLinFactNeighborX="-197">
        <dgm:presLayoutVars>
          <dgm:bulletEnabled val="1"/>
        </dgm:presLayoutVars>
      </dgm:prSet>
      <dgm:spPr/>
    </dgm:pt>
    <dgm:pt modelId="{23209069-6A7C-4074-AA21-0D597BDF1026}" type="pres">
      <dgm:prSet presAssocID="{48597FEF-C023-4E72-AE14-68F6EB74A50F}" presName="sibTrans" presStyleCnt="0"/>
      <dgm:spPr/>
    </dgm:pt>
    <dgm:pt modelId="{940B59C6-CA3E-426A-A6B1-33F6C6EACDD6}" type="pres">
      <dgm:prSet presAssocID="{57019D3B-FF53-401A-B641-E41B2444BA39}" presName="node" presStyleLbl="node1" presStyleIdx="3" presStyleCnt="5" custScaleX="141338">
        <dgm:presLayoutVars>
          <dgm:bulletEnabled val="1"/>
        </dgm:presLayoutVars>
      </dgm:prSet>
      <dgm:spPr/>
    </dgm:pt>
    <dgm:pt modelId="{2F83CF9A-B398-4C09-9B67-408C3F31ECB7}" type="pres">
      <dgm:prSet presAssocID="{FB14FA2E-566E-4155-BF3C-9B6EFD2A8F84}" presName="sibTrans" presStyleCnt="0"/>
      <dgm:spPr/>
    </dgm:pt>
    <dgm:pt modelId="{C02EEDCA-C4D2-45C9-8C34-30E8185DC32D}" type="pres">
      <dgm:prSet presAssocID="{75F41DF8-B2CE-419B-BA9D-443D6805EC34}" presName="node" presStyleLbl="node1" presStyleIdx="4" presStyleCnt="5" custScaleX="161628">
        <dgm:presLayoutVars>
          <dgm:bulletEnabled val="1"/>
        </dgm:presLayoutVars>
      </dgm:prSet>
      <dgm:spPr/>
    </dgm:pt>
  </dgm:ptLst>
  <dgm:cxnLst>
    <dgm:cxn modelId="{EC51EE02-1ACE-4E2A-AA7D-C4DD5A6FD682}" srcId="{B471CF69-9585-48BD-81B2-28D8CCF3F5F4}" destId="{8294822A-B6B3-49B3-BED7-9F597A1EDB69}" srcOrd="2" destOrd="0" parTransId="{7E2E5112-D2C7-4A6B-B7BA-38651C07B22D}" sibTransId="{48597FEF-C023-4E72-AE14-68F6EB74A50F}"/>
    <dgm:cxn modelId="{E3871905-88D2-49C4-8301-347F248BDA13}" srcId="{B471CF69-9585-48BD-81B2-28D8CCF3F5F4}" destId="{75F41DF8-B2CE-419B-BA9D-443D6805EC34}" srcOrd="4" destOrd="0" parTransId="{6D0AE98E-1DB5-4892-AAAC-07721200033C}" sibTransId="{56EEAC24-FDF5-4863-9684-64E45CB07836}"/>
    <dgm:cxn modelId="{3B142209-196E-40DE-8A5B-D652C07B438C}" type="presOf" srcId="{8294822A-B6B3-49B3-BED7-9F597A1EDB69}" destId="{74406552-0DEF-4596-B669-9514D6B7B3C7}" srcOrd="0" destOrd="0" presId="urn:microsoft.com/office/officeart/2005/8/layout/default"/>
    <dgm:cxn modelId="{55A5B211-E2EC-4421-BACE-1EFF87EFAD1D}" type="presOf" srcId="{7EB18AAC-2761-4B99-8AC1-1F505FEAE9DB}" destId="{71CA66B7-7908-4B89-95CA-3B6B348EA2EB}" srcOrd="0" destOrd="0" presId="urn:microsoft.com/office/officeart/2005/8/layout/default"/>
    <dgm:cxn modelId="{DAF7CC19-6CBE-4920-9B18-40E7B29DB05A}" type="presOf" srcId="{75F41DF8-B2CE-419B-BA9D-443D6805EC34}" destId="{C02EEDCA-C4D2-45C9-8C34-30E8185DC32D}" srcOrd="0" destOrd="0" presId="urn:microsoft.com/office/officeart/2005/8/layout/default"/>
    <dgm:cxn modelId="{75CAA662-136D-4014-A797-2A492C37FA19}" srcId="{B471CF69-9585-48BD-81B2-28D8CCF3F5F4}" destId="{57019D3B-FF53-401A-B641-E41B2444BA39}" srcOrd="3" destOrd="0" parTransId="{E5D00D05-9E4F-4BBC-BFCB-BF6A4EF996B4}" sibTransId="{FB14FA2E-566E-4155-BF3C-9B6EFD2A8F84}"/>
    <dgm:cxn modelId="{91F62748-EC2C-4964-AC6A-5C6571968150}" type="presOf" srcId="{57019D3B-FF53-401A-B641-E41B2444BA39}" destId="{940B59C6-CA3E-426A-A6B1-33F6C6EACDD6}" srcOrd="0" destOrd="0" presId="urn:microsoft.com/office/officeart/2005/8/layout/default"/>
    <dgm:cxn modelId="{7660AD53-679E-40F7-B7BC-8D3479AF9C49}" srcId="{B471CF69-9585-48BD-81B2-28D8CCF3F5F4}" destId="{E0D24C04-4DED-4BFA-81D7-CDBC6B72B316}" srcOrd="0" destOrd="0" parTransId="{4E9A2C77-DA20-4C42-AEFF-152630976AA4}" sibTransId="{1F902043-CDAF-46B8-9823-8060E5690A95}"/>
    <dgm:cxn modelId="{DE00CAA6-A550-472F-B4B2-43E11CAD6D5C}" srcId="{B471CF69-9585-48BD-81B2-28D8CCF3F5F4}" destId="{7EB18AAC-2761-4B99-8AC1-1F505FEAE9DB}" srcOrd="1" destOrd="0" parTransId="{DFB4F5CF-9F56-47EE-BEE4-52E0D68E67E2}" sibTransId="{F6331D31-5565-4F31-8F8B-86DDC1ED089D}"/>
    <dgm:cxn modelId="{343530D7-4887-4208-B6EC-07646B262BF9}" type="presOf" srcId="{B471CF69-9585-48BD-81B2-28D8CCF3F5F4}" destId="{B90452A7-19EA-4E2E-8491-4F26ACDE3FA5}" srcOrd="0" destOrd="0" presId="urn:microsoft.com/office/officeart/2005/8/layout/default"/>
    <dgm:cxn modelId="{C1FEA2DA-32D0-4B6D-B1AE-76DD147566AC}" type="presOf" srcId="{E0D24C04-4DED-4BFA-81D7-CDBC6B72B316}" destId="{5149D3A5-A6A3-4F1F-8826-51DB6896761C}" srcOrd="0" destOrd="0" presId="urn:microsoft.com/office/officeart/2005/8/layout/default"/>
    <dgm:cxn modelId="{BB10BFC5-FB26-4842-9219-6FA7DA8627D1}" type="presParOf" srcId="{B90452A7-19EA-4E2E-8491-4F26ACDE3FA5}" destId="{5149D3A5-A6A3-4F1F-8826-51DB6896761C}" srcOrd="0" destOrd="0" presId="urn:microsoft.com/office/officeart/2005/8/layout/default"/>
    <dgm:cxn modelId="{C3DF299A-4417-4673-890A-1E73E8A35C59}" type="presParOf" srcId="{B90452A7-19EA-4E2E-8491-4F26ACDE3FA5}" destId="{86CF5458-A9FE-4655-A646-720670919B2D}" srcOrd="1" destOrd="0" presId="urn:microsoft.com/office/officeart/2005/8/layout/default"/>
    <dgm:cxn modelId="{A9D36B80-A414-4AEB-8B4C-4573B67F762B}" type="presParOf" srcId="{B90452A7-19EA-4E2E-8491-4F26ACDE3FA5}" destId="{71CA66B7-7908-4B89-95CA-3B6B348EA2EB}" srcOrd="2" destOrd="0" presId="urn:microsoft.com/office/officeart/2005/8/layout/default"/>
    <dgm:cxn modelId="{6ADED5D8-9D88-4852-BD65-E79CC0C43B09}" type="presParOf" srcId="{B90452A7-19EA-4E2E-8491-4F26ACDE3FA5}" destId="{143EFC3B-CDB2-479A-B40F-E60DF3752644}" srcOrd="3" destOrd="0" presId="urn:microsoft.com/office/officeart/2005/8/layout/default"/>
    <dgm:cxn modelId="{6A9D578F-EC47-4F5E-B82E-DB5FC2D70776}" type="presParOf" srcId="{B90452A7-19EA-4E2E-8491-4F26ACDE3FA5}" destId="{74406552-0DEF-4596-B669-9514D6B7B3C7}" srcOrd="4" destOrd="0" presId="urn:microsoft.com/office/officeart/2005/8/layout/default"/>
    <dgm:cxn modelId="{5C6C1E77-9878-42C3-887A-BB4FB24E8AEF}" type="presParOf" srcId="{B90452A7-19EA-4E2E-8491-4F26ACDE3FA5}" destId="{23209069-6A7C-4074-AA21-0D597BDF1026}" srcOrd="5" destOrd="0" presId="urn:microsoft.com/office/officeart/2005/8/layout/default"/>
    <dgm:cxn modelId="{B3BA3919-1187-43BE-9C7B-79E4B875653E}" type="presParOf" srcId="{B90452A7-19EA-4E2E-8491-4F26ACDE3FA5}" destId="{940B59C6-CA3E-426A-A6B1-33F6C6EACDD6}" srcOrd="6" destOrd="0" presId="urn:microsoft.com/office/officeart/2005/8/layout/default"/>
    <dgm:cxn modelId="{F3044019-FDA0-43AF-AC63-A4BB5FD3894A}" type="presParOf" srcId="{B90452A7-19EA-4E2E-8491-4F26ACDE3FA5}" destId="{2F83CF9A-B398-4C09-9B67-408C3F31ECB7}" srcOrd="7" destOrd="0" presId="urn:microsoft.com/office/officeart/2005/8/layout/default"/>
    <dgm:cxn modelId="{BFB6CFB9-3BD9-4DDA-B5E0-291EC064729F}" type="presParOf" srcId="{B90452A7-19EA-4E2E-8491-4F26ACDE3FA5}" destId="{C02EEDCA-C4D2-45C9-8C34-30E8185DC32D}"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6613D-27FA-4777-9742-8FA36FAB631B}">
      <dsp:nvSpPr>
        <dsp:cNvPr id="0" name=""/>
        <dsp:cNvSpPr/>
      </dsp:nvSpPr>
      <dsp:spPr>
        <a:xfrm>
          <a:off x="8151" y="522511"/>
          <a:ext cx="2436471" cy="146188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Request rocket launch data from SpaceX API</a:t>
          </a:r>
        </a:p>
      </dsp:txBody>
      <dsp:txXfrm>
        <a:off x="50968" y="565328"/>
        <a:ext cx="2350837" cy="1376249"/>
      </dsp:txXfrm>
    </dsp:sp>
    <dsp:sp modelId="{485D9D27-1173-464A-90FC-3669462F39CB}">
      <dsp:nvSpPr>
        <dsp:cNvPr id="0" name=""/>
        <dsp:cNvSpPr/>
      </dsp:nvSpPr>
      <dsp:spPr>
        <a:xfrm>
          <a:off x="2659033" y="951330"/>
          <a:ext cx="516532" cy="6042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659033" y="1072179"/>
        <a:ext cx="361572" cy="362547"/>
      </dsp:txXfrm>
    </dsp:sp>
    <dsp:sp modelId="{1549A353-6E21-47C4-A718-3B8690B9955F}">
      <dsp:nvSpPr>
        <dsp:cNvPr id="0" name=""/>
        <dsp:cNvSpPr/>
      </dsp:nvSpPr>
      <dsp:spPr>
        <a:xfrm>
          <a:off x="3419212" y="522511"/>
          <a:ext cx="2436471" cy="146188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Use JSON to decode response content</a:t>
          </a:r>
        </a:p>
      </dsp:txBody>
      <dsp:txXfrm>
        <a:off x="3462029" y="565328"/>
        <a:ext cx="2350837" cy="1376249"/>
      </dsp:txXfrm>
    </dsp:sp>
    <dsp:sp modelId="{9C3E0031-B751-4150-9E25-34F61A39D1BA}">
      <dsp:nvSpPr>
        <dsp:cNvPr id="0" name=""/>
        <dsp:cNvSpPr/>
      </dsp:nvSpPr>
      <dsp:spPr>
        <a:xfrm>
          <a:off x="6070094" y="951330"/>
          <a:ext cx="516532" cy="6042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070094" y="1072179"/>
        <a:ext cx="361572" cy="362547"/>
      </dsp:txXfrm>
    </dsp:sp>
    <dsp:sp modelId="{8CAE484A-C49E-4DAC-B9C9-B5D266A1DB23}">
      <dsp:nvSpPr>
        <dsp:cNvPr id="0" name=""/>
        <dsp:cNvSpPr/>
      </dsp:nvSpPr>
      <dsp:spPr>
        <a:xfrm>
          <a:off x="6830273" y="522511"/>
          <a:ext cx="2436471" cy="146188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Build dictionary from obtained data and create </a:t>
          </a:r>
          <a:r>
            <a:rPr lang="en-US" sz="1700" kern="1200" dirty="0" err="1"/>
            <a:t>dataframe</a:t>
          </a:r>
          <a:r>
            <a:rPr lang="en-US" sz="1700" kern="1200" dirty="0"/>
            <a:t> from dictionary </a:t>
          </a:r>
        </a:p>
      </dsp:txBody>
      <dsp:txXfrm>
        <a:off x="6873090" y="565328"/>
        <a:ext cx="2350837" cy="1376249"/>
      </dsp:txXfrm>
    </dsp:sp>
    <dsp:sp modelId="{A636E9C8-ADDF-4B95-B663-A79D95D8DC0A}">
      <dsp:nvSpPr>
        <dsp:cNvPr id="0" name=""/>
        <dsp:cNvSpPr/>
      </dsp:nvSpPr>
      <dsp:spPr>
        <a:xfrm rot="5400000">
          <a:off x="7790243" y="2154948"/>
          <a:ext cx="516532" cy="6042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7867236" y="2198804"/>
        <a:ext cx="362547" cy="361572"/>
      </dsp:txXfrm>
    </dsp:sp>
    <dsp:sp modelId="{CDBB1666-3D79-4FA0-A498-D03E0123DDAA}">
      <dsp:nvSpPr>
        <dsp:cNvPr id="0" name=""/>
        <dsp:cNvSpPr/>
      </dsp:nvSpPr>
      <dsp:spPr>
        <a:xfrm>
          <a:off x="6830273" y="2958983"/>
          <a:ext cx="2436471" cy="146188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Filter data to include only Falcon 9 launch information</a:t>
          </a:r>
        </a:p>
      </dsp:txBody>
      <dsp:txXfrm>
        <a:off x="6873090" y="3001800"/>
        <a:ext cx="2350837" cy="1376249"/>
      </dsp:txXfrm>
    </dsp:sp>
    <dsp:sp modelId="{59C30275-BA9F-48BF-B1E7-96F329AB23AF}">
      <dsp:nvSpPr>
        <dsp:cNvPr id="0" name=""/>
        <dsp:cNvSpPr/>
      </dsp:nvSpPr>
      <dsp:spPr>
        <a:xfrm rot="10800000">
          <a:off x="6099331" y="3387802"/>
          <a:ext cx="516532" cy="6042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6254291" y="3508651"/>
        <a:ext cx="361572" cy="362547"/>
      </dsp:txXfrm>
    </dsp:sp>
    <dsp:sp modelId="{C99B972D-15AC-4A46-BCD4-C899D04FC427}">
      <dsp:nvSpPr>
        <dsp:cNvPr id="0" name=""/>
        <dsp:cNvSpPr/>
      </dsp:nvSpPr>
      <dsp:spPr>
        <a:xfrm>
          <a:off x="3419212" y="2958983"/>
          <a:ext cx="2436471" cy="146188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Replace missing values in Payload Mass column with calculated mean for that column and export to CSV</a:t>
          </a:r>
        </a:p>
      </dsp:txBody>
      <dsp:txXfrm>
        <a:off x="3462029" y="3001800"/>
        <a:ext cx="2350837" cy="13762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FA3C8B-1AC4-43BD-B2D2-4D74BFCAEF10}">
      <dsp:nvSpPr>
        <dsp:cNvPr id="0" name=""/>
        <dsp:cNvSpPr/>
      </dsp:nvSpPr>
      <dsp:spPr>
        <a:xfrm>
          <a:off x="7744" y="692635"/>
          <a:ext cx="2314737" cy="138884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Request Falcon 9 launch data from Wikipedia</a:t>
          </a:r>
        </a:p>
      </dsp:txBody>
      <dsp:txXfrm>
        <a:off x="48422" y="733313"/>
        <a:ext cx="2233381" cy="1307486"/>
      </dsp:txXfrm>
    </dsp:sp>
    <dsp:sp modelId="{A022925B-659A-44B0-9D2D-C18AF496805B}">
      <dsp:nvSpPr>
        <dsp:cNvPr id="0" name=""/>
        <dsp:cNvSpPr/>
      </dsp:nvSpPr>
      <dsp:spPr>
        <a:xfrm>
          <a:off x="2526178" y="1100029"/>
          <a:ext cx="490724" cy="5740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526178" y="1214840"/>
        <a:ext cx="343507" cy="344432"/>
      </dsp:txXfrm>
    </dsp:sp>
    <dsp:sp modelId="{CA581BCD-7413-4662-8B7A-EF13DA021E8E}">
      <dsp:nvSpPr>
        <dsp:cNvPr id="0" name=""/>
        <dsp:cNvSpPr/>
      </dsp:nvSpPr>
      <dsp:spPr>
        <a:xfrm>
          <a:off x="3248376" y="692635"/>
          <a:ext cx="2314737" cy="138884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Collect the data by parsing HTML tables</a:t>
          </a:r>
        </a:p>
      </dsp:txBody>
      <dsp:txXfrm>
        <a:off x="3289054" y="733313"/>
        <a:ext cx="2233381" cy="1307486"/>
      </dsp:txXfrm>
    </dsp:sp>
    <dsp:sp modelId="{3E4F3ACD-D20B-4F0C-A908-B0B5B75E25D8}">
      <dsp:nvSpPr>
        <dsp:cNvPr id="0" name=""/>
        <dsp:cNvSpPr/>
      </dsp:nvSpPr>
      <dsp:spPr>
        <a:xfrm>
          <a:off x="5766811" y="1100029"/>
          <a:ext cx="490724" cy="5740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66811" y="1214840"/>
        <a:ext cx="343507" cy="344432"/>
      </dsp:txXfrm>
    </dsp:sp>
    <dsp:sp modelId="{CE84195F-6457-41C7-8C7C-17A86C994E11}">
      <dsp:nvSpPr>
        <dsp:cNvPr id="0" name=""/>
        <dsp:cNvSpPr/>
      </dsp:nvSpPr>
      <dsp:spPr>
        <a:xfrm>
          <a:off x="6489009" y="692635"/>
          <a:ext cx="2314737" cy="138884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Build dictionary from obtained data </a:t>
          </a:r>
        </a:p>
      </dsp:txBody>
      <dsp:txXfrm>
        <a:off x="6529687" y="733313"/>
        <a:ext cx="2233381" cy="1307486"/>
      </dsp:txXfrm>
    </dsp:sp>
    <dsp:sp modelId="{0C3F6A44-555C-4637-8282-6778C969F1AC}">
      <dsp:nvSpPr>
        <dsp:cNvPr id="0" name=""/>
        <dsp:cNvSpPr/>
      </dsp:nvSpPr>
      <dsp:spPr>
        <a:xfrm rot="5400000">
          <a:off x="7401015" y="2243509"/>
          <a:ext cx="490724" cy="5740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5400000">
        <a:off x="7474162" y="2285174"/>
        <a:ext cx="344432" cy="343507"/>
      </dsp:txXfrm>
    </dsp:sp>
    <dsp:sp modelId="{E0408C56-A585-41BA-B420-7B02B2B9E400}">
      <dsp:nvSpPr>
        <dsp:cNvPr id="0" name=""/>
        <dsp:cNvSpPr/>
      </dsp:nvSpPr>
      <dsp:spPr>
        <a:xfrm>
          <a:off x="6489009" y="3007372"/>
          <a:ext cx="2314737" cy="138884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Create </a:t>
          </a:r>
          <a:r>
            <a:rPr lang="en-US" sz="2500" kern="1200" dirty="0" err="1"/>
            <a:t>dataframe</a:t>
          </a:r>
          <a:r>
            <a:rPr lang="en-US" sz="2500" kern="1200" dirty="0"/>
            <a:t> from dictionary </a:t>
          </a:r>
        </a:p>
      </dsp:txBody>
      <dsp:txXfrm>
        <a:off x="6529687" y="3048050"/>
        <a:ext cx="2233381" cy="1307486"/>
      </dsp:txXfrm>
    </dsp:sp>
    <dsp:sp modelId="{63953CC5-DDD3-4C91-806D-C929B47B46AB}">
      <dsp:nvSpPr>
        <dsp:cNvPr id="0" name=""/>
        <dsp:cNvSpPr/>
      </dsp:nvSpPr>
      <dsp:spPr>
        <a:xfrm rot="10800000">
          <a:off x="5794587" y="3414766"/>
          <a:ext cx="490724" cy="5740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5941804" y="3529577"/>
        <a:ext cx="343507" cy="344432"/>
      </dsp:txXfrm>
    </dsp:sp>
    <dsp:sp modelId="{904D9B25-7F51-4BB3-9124-BCEC898CF04D}">
      <dsp:nvSpPr>
        <dsp:cNvPr id="0" name=""/>
        <dsp:cNvSpPr/>
      </dsp:nvSpPr>
      <dsp:spPr>
        <a:xfrm>
          <a:off x="3248376" y="3007372"/>
          <a:ext cx="2314737" cy="138884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Export to CSV</a:t>
          </a:r>
        </a:p>
      </dsp:txBody>
      <dsp:txXfrm>
        <a:off x="3289054" y="3048050"/>
        <a:ext cx="2233381" cy="13074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17424-815A-46BF-B9E2-16E1A6F8351A}">
      <dsp:nvSpPr>
        <dsp:cNvPr id="0" name=""/>
        <dsp:cNvSpPr/>
      </dsp:nvSpPr>
      <dsp:spPr>
        <a:xfrm>
          <a:off x="8168" y="373005"/>
          <a:ext cx="2441514" cy="14649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Perform exploratory data analysis </a:t>
          </a:r>
        </a:p>
      </dsp:txBody>
      <dsp:txXfrm>
        <a:off x="51074" y="415911"/>
        <a:ext cx="2355702" cy="1379096"/>
      </dsp:txXfrm>
    </dsp:sp>
    <dsp:sp modelId="{C05EB4CD-37BA-47BF-965B-0F49DD82DDA0}">
      <dsp:nvSpPr>
        <dsp:cNvPr id="0" name=""/>
        <dsp:cNvSpPr/>
      </dsp:nvSpPr>
      <dsp:spPr>
        <a:xfrm>
          <a:off x="2664536" y="802711"/>
          <a:ext cx="517600" cy="6054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2664536" y="923810"/>
        <a:ext cx="362320" cy="363297"/>
      </dsp:txXfrm>
    </dsp:sp>
    <dsp:sp modelId="{DBB1FBDA-B4C7-40CE-A753-973FED99D19D}">
      <dsp:nvSpPr>
        <dsp:cNvPr id="0" name=""/>
        <dsp:cNvSpPr/>
      </dsp:nvSpPr>
      <dsp:spPr>
        <a:xfrm>
          <a:off x="3426288" y="373005"/>
          <a:ext cx="2441514" cy="14649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Calculate number of launches per site</a:t>
          </a:r>
        </a:p>
      </dsp:txBody>
      <dsp:txXfrm>
        <a:off x="3469194" y="415911"/>
        <a:ext cx="2355702" cy="1379096"/>
      </dsp:txXfrm>
    </dsp:sp>
    <dsp:sp modelId="{42270DFC-6969-4584-976B-7B04C45DC4B0}">
      <dsp:nvSpPr>
        <dsp:cNvPr id="0" name=""/>
        <dsp:cNvSpPr/>
      </dsp:nvSpPr>
      <dsp:spPr>
        <a:xfrm>
          <a:off x="6082655" y="802711"/>
          <a:ext cx="517600" cy="6054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082655" y="923810"/>
        <a:ext cx="362320" cy="363297"/>
      </dsp:txXfrm>
    </dsp:sp>
    <dsp:sp modelId="{45D8C522-4535-45EA-8694-DE07E69F3574}">
      <dsp:nvSpPr>
        <dsp:cNvPr id="0" name=""/>
        <dsp:cNvSpPr/>
      </dsp:nvSpPr>
      <dsp:spPr>
        <a:xfrm>
          <a:off x="6844408" y="373005"/>
          <a:ext cx="2441514" cy="14649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Calculate number and occurrence of each orbit</a:t>
          </a:r>
        </a:p>
      </dsp:txBody>
      <dsp:txXfrm>
        <a:off x="6887314" y="415911"/>
        <a:ext cx="2355702" cy="1379096"/>
      </dsp:txXfrm>
    </dsp:sp>
    <dsp:sp modelId="{61AA9624-8297-4A45-B991-599A6AF8A53D}">
      <dsp:nvSpPr>
        <dsp:cNvPr id="0" name=""/>
        <dsp:cNvSpPr/>
      </dsp:nvSpPr>
      <dsp:spPr>
        <a:xfrm rot="5400000">
          <a:off x="7806364" y="2008819"/>
          <a:ext cx="517600" cy="6054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7883516" y="2052766"/>
        <a:ext cx="363297" cy="362320"/>
      </dsp:txXfrm>
    </dsp:sp>
    <dsp:sp modelId="{22FF007C-5269-4144-83D6-1E61A996F0FA}">
      <dsp:nvSpPr>
        <dsp:cNvPr id="0" name=""/>
        <dsp:cNvSpPr/>
      </dsp:nvSpPr>
      <dsp:spPr>
        <a:xfrm>
          <a:off x="6844408" y="2814519"/>
          <a:ext cx="2441514" cy="14649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Calculate number and occurrence of mission outcome per orbit type</a:t>
          </a:r>
        </a:p>
      </dsp:txBody>
      <dsp:txXfrm>
        <a:off x="6887314" y="2857425"/>
        <a:ext cx="2355702" cy="1379096"/>
      </dsp:txXfrm>
    </dsp:sp>
    <dsp:sp modelId="{16EEAF91-1842-4327-A2D4-FF7A8D7336C2}">
      <dsp:nvSpPr>
        <dsp:cNvPr id="0" name=""/>
        <dsp:cNvSpPr/>
      </dsp:nvSpPr>
      <dsp:spPr>
        <a:xfrm rot="10800000">
          <a:off x="6111953" y="3244225"/>
          <a:ext cx="517600" cy="6054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6267233" y="3365324"/>
        <a:ext cx="362320" cy="363297"/>
      </dsp:txXfrm>
    </dsp:sp>
    <dsp:sp modelId="{99AFFC46-703D-4EAB-9A8F-7CEB9708461C}">
      <dsp:nvSpPr>
        <dsp:cNvPr id="0" name=""/>
        <dsp:cNvSpPr/>
      </dsp:nvSpPr>
      <dsp:spPr>
        <a:xfrm>
          <a:off x="3426288" y="2814519"/>
          <a:ext cx="2441514" cy="14649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Add column ‘</a:t>
          </a:r>
          <a:r>
            <a:rPr lang="en-US" sz="2100" kern="1200" dirty="0" err="1"/>
            <a:t>Class’</a:t>
          </a:r>
          <a:r>
            <a:rPr lang="en-US" sz="2100" kern="1200" dirty="0"/>
            <a:t> classifying 0 if a  launch is failed and 1 if it is successful</a:t>
          </a:r>
        </a:p>
      </dsp:txBody>
      <dsp:txXfrm>
        <a:off x="3469194" y="2857425"/>
        <a:ext cx="2355702" cy="13790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49D3A5-A6A3-4F1F-8826-51DB6896761C}">
      <dsp:nvSpPr>
        <dsp:cNvPr id="0" name=""/>
        <dsp:cNvSpPr/>
      </dsp:nvSpPr>
      <dsp:spPr>
        <a:xfrm>
          <a:off x="173312" y="2645"/>
          <a:ext cx="3656518" cy="16240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Standardize</a:t>
          </a:r>
        </a:p>
        <a:p>
          <a:pPr marL="0" lvl="0" indent="0" algn="ctr" defTabSz="755650">
            <a:lnSpc>
              <a:spcPct val="90000"/>
            </a:lnSpc>
            <a:spcBef>
              <a:spcPct val="0"/>
            </a:spcBef>
            <a:spcAft>
              <a:spcPct val="35000"/>
            </a:spcAft>
            <a:buNone/>
          </a:pPr>
          <a:r>
            <a:rPr lang="en-US" sz="1500" kern="1200" dirty="0"/>
            <a:t>Standardize the data using</a:t>
          </a:r>
        </a:p>
        <a:p>
          <a:pPr marL="0" lvl="0" indent="0" algn="ctr" defTabSz="755650">
            <a:lnSpc>
              <a:spcPct val="90000"/>
            </a:lnSpc>
            <a:spcBef>
              <a:spcPct val="0"/>
            </a:spcBef>
            <a:spcAft>
              <a:spcPct val="35000"/>
            </a:spcAft>
            <a:buNone/>
          </a:pPr>
          <a:r>
            <a:rPr lang="en-US" sz="1400" kern="1200" dirty="0"/>
            <a:t>transform = </a:t>
          </a:r>
          <a:r>
            <a:rPr lang="en-US" sz="1400" kern="1200" dirty="0" err="1"/>
            <a:t>preprocessing.StandardScaler</a:t>
          </a:r>
          <a:r>
            <a:rPr lang="en-US" sz="1400" kern="1200" dirty="0"/>
            <a:t>()</a:t>
          </a:r>
        </a:p>
        <a:p>
          <a:pPr marL="0" lvl="0" indent="0" algn="ctr" defTabSz="755650">
            <a:lnSpc>
              <a:spcPct val="90000"/>
            </a:lnSpc>
            <a:spcBef>
              <a:spcPct val="0"/>
            </a:spcBef>
            <a:spcAft>
              <a:spcPct val="35000"/>
            </a:spcAft>
            <a:buNone/>
          </a:pPr>
          <a:r>
            <a:rPr lang="fr-FR" sz="1400" kern="1200" dirty="0"/>
            <a:t>X = </a:t>
          </a:r>
          <a:r>
            <a:rPr lang="fr-FR" sz="1400" kern="1200" dirty="0" err="1"/>
            <a:t>transform.fit</a:t>
          </a:r>
          <a:r>
            <a:rPr lang="fr-FR" sz="1400" kern="1200" dirty="0"/>
            <a:t>(X).</a:t>
          </a:r>
          <a:r>
            <a:rPr lang="fr-FR" sz="1400" kern="1200" dirty="0" err="1"/>
            <a:t>transform</a:t>
          </a:r>
          <a:r>
            <a:rPr lang="fr-FR" sz="1400" kern="1200" dirty="0"/>
            <a:t>(X)</a:t>
          </a:r>
          <a:endParaRPr lang="en-US" sz="1400" kern="1200" dirty="0"/>
        </a:p>
      </dsp:txBody>
      <dsp:txXfrm>
        <a:off x="173312" y="2645"/>
        <a:ext cx="3656518" cy="1624012"/>
      </dsp:txXfrm>
    </dsp:sp>
    <dsp:sp modelId="{71CA66B7-7908-4B89-95CA-3B6B348EA2EB}">
      <dsp:nvSpPr>
        <dsp:cNvPr id="0" name=""/>
        <dsp:cNvSpPr/>
      </dsp:nvSpPr>
      <dsp:spPr>
        <a:xfrm>
          <a:off x="4100499" y="2645"/>
          <a:ext cx="3854187" cy="16240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Split</a:t>
          </a:r>
        </a:p>
        <a:p>
          <a:pPr marL="0" lvl="0" indent="0" algn="ctr" defTabSz="755650">
            <a:lnSpc>
              <a:spcPct val="90000"/>
            </a:lnSpc>
            <a:spcBef>
              <a:spcPct val="0"/>
            </a:spcBef>
            <a:spcAft>
              <a:spcPct val="35000"/>
            </a:spcAft>
            <a:buNone/>
          </a:pPr>
          <a:r>
            <a:rPr lang="en-US" sz="1500" kern="1200" dirty="0"/>
            <a:t>Split the data into training and test data using</a:t>
          </a:r>
        </a:p>
        <a:p>
          <a:pPr marL="0" lvl="0" indent="0" algn="ctr" defTabSz="755650">
            <a:lnSpc>
              <a:spcPct val="90000"/>
            </a:lnSpc>
            <a:spcBef>
              <a:spcPct val="0"/>
            </a:spcBef>
            <a:spcAft>
              <a:spcPct val="35000"/>
            </a:spcAft>
            <a:buNone/>
          </a:pPr>
          <a:r>
            <a:rPr lang="en-US" sz="1500" kern="1200" dirty="0" err="1"/>
            <a:t>X_train</a:t>
          </a:r>
          <a:r>
            <a:rPr lang="en-US" sz="1500" kern="1200" dirty="0"/>
            <a:t>, </a:t>
          </a:r>
          <a:r>
            <a:rPr lang="en-US" sz="1500" kern="1200" dirty="0" err="1"/>
            <a:t>X_test</a:t>
          </a:r>
          <a:r>
            <a:rPr lang="en-US" sz="1500" kern="1200" dirty="0"/>
            <a:t>, </a:t>
          </a:r>
          <a:r>
            <a:rPr lang="en-US" sz="1500" kern="1200" dirty="0" err="1"/>
            <a:t>Y_train</a:t>
          </a:r>
          <a:r>
            <a:rPr lang="en-US" sz="1500" kern="1200" dirty="0"/>
            <a:t>, </a:t>
          </a:r>
          <a:r>
            <a:rPr lang="en-US" sz="1500" kern="1200" dirty="0" err="1"/>
            <a:t>Y_test</a:t>
          </a:r>
          <a:r>
            <a:rPr lang="en-US" sz="1500" kern="1200" dirty="0"/>
            <a:t> = </a:t>
          </a:r>
          <a:r>
            <a:rPr lang="en-US" sz="1500" kern="1200" dirty="0" err="1"/>
            <a:t>train_test_split</a:t>
          </a:r>
          <a:r>
            <a:rPr lang="en-US" sz="1500" kern="1200" dirty="0"/>
            <a:t>( X, Y, </a:t>
          </a:r>
          <a:r>
            <a:rPr lang="en-US" sz="1500" kern="1200" dirty="0" err="1"/>
            <a:t>test_size</a:t>
          </a:r>
          <a:r>
            <a:rPr lang="en-US" sz="1500" kern="1200" dirty="0"/>
            <a:t>=0.2, </a:t>
          </a:r>
          <a:r>
            <a:rPr lang="en-US" sz="1500" kern="1200" dirty="0" err="1"/>
            <a:t>random_state</a:t>
          </a:r>
          <a:r>
            <a:rPr lang="en-US" sz="1500" kern="1200" dirty="0"/>
            <a:t>=2)</a:t>
          </a:r>
        </a:p>
      </dsp:txBody>
      <dsp:txXfrm>
        <a:off x="4100499" y="2645"/>
        <a:ext cx="3854187" cy="1624012"/>
      </dsp:txXfrm>
    </dsp:sp>
    <dsp:sp modelId="{74406552-0DEF-4596-B669-9514D6B7B3C7}">
      <dsp:nvSpPr>
        <dsp:cNvPr id="0" name=""/>
        <dsp:cNvSpPr/>
      </dsp:nvSpPr>
      <dsp:spPr>
        <a:xfrm>
          <a:off x="197226" y="1897327"/>
          <a:ext cx="3626636" cy="16240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Create and Optimize</a:t>
          </a:r>
        </a:p>
        <a:p>
          <a:pPr marL="0" lvl="0" indent="0" algn="ctr" defTabSz="755650">
            <a:lnSpc>
              <a:spcPct val="90000"/>
            </a:lnSpc>
            <a:spcBef>
              <a:spcPct val="0"/>
            </a:spcBef>
            <a:spcAft>
              <a:spcPct val="35000"/>
            </a:spcAft>
            <a:buNone/>
          </a:pPr>
          <a:r>
            <a:rPr lang="en-US" sz="1200" kern="1200" dirty="0"/>
            <a:t>Create model object and parameters dictionary using</a:t>
          </a:r>
        </a:p>
        <a:p>
          <a:pPr marL="0" lvl="0" indent="0" algn="ctr" defTabSz="755650">
            <a:lnSpc>
              <a:spcPct val="90000"/>
            </a:lnSpc>
            <a:spcBef>
              <a:spcPct val="0"/>
            </a:spcBef>
            <a:spcAft>
              <a:spcPct val="35000"/>
            </a:spcAft>
            <a:buNone/>
          </a:pPr>
          <a:r>
            <a:rPr lang="en-US" sz="1200" kern="1200" dirty="0"/>
            <a:t>parameters ={"C":[0.01,0.1,1],'penalty':['l2'], 'solver':['</a:t>
          </a:r>
          <a:r>
            <a:rPr lang="en-US" sz="1200" kern="1200" dirty="0" err="1"/>
            <a:t>lbfgs</a:t>
          </a:r>
          <a:r>
            <a:rPr lang="en-US" sz="1200" kern="1200" dirty="0"/>
            <a:t>']}# l1 lasso l2 ridge</a:t>
          </a:r>
        </a:p>
        <a:p>
          <a:pPr marL="0" lvl="0" indent="0" algn="ctr" defTabSz="755650">
            <a:lnSpc>
              <a:spcPct val="90000"/>
            </a:lnSpc>
            <a:spcBef>
              <a:spcPct val="0"/>
            </a:spcBef>
            <a:spcAft>
              <a:spcPct val="35000"/>
            </a:spcAft>
            <a:buNone/>
          </a:pPr>
          <a:r>
            <a:rPr lang="en-US" sz="1200" kern="1200" dirty="0" err="1"/>
            <a:t>lr</a:t>
          </a:r>
          <a:r>
            <a:rPr lang="en-US" sz="1200" kern="1200" dirty="0"/>
            <a:t>=LogisticRegression()</a:t>
          </a:r>
        </a:p>
        <a:p>
          <a:pPr marL="0" lvl="0" indent="0" algn="ctr" defTabSz="755650">
            <a:lnSpc>
              <a:spcPct val="90000"/>
            </a:lnSpc>
            <a:spcBef>
              <a:spcPct val="0"/>
            </a:spcBef>
            <a:spcAft>
              <a:spcPct val="35000"/>
            </a:spcAft>
            <a:buNone/>
          </a:pPr>
          <a:r>
            <a:rPr lang="en-US" sz="1200" kern="1200" dirty="0" err="1"/>
            <a:t>logreg_cv</a:t>
          </a:r>
          <a:r>
            <a:rPr lang="en-US" sz="1200" kern="1200" dirty="0"/>
            <a:t> = </a:t>
          </a:r>
          <a:r>
            <a:rPr lang="en-US" sz="1200" kern="1200" dirty="0" err="1"/>
            <a:t>GridSearchCV</a:t>
          </a:r>
          <a:r>
            <a:rPr lang="en-US" sz="1200" kern="1200" dirty="0"/>
            <a:t>(</a:t>
          </a:r>
          <a:r>
            <a:rPr lang="en-US" sz="1200" kern="1200" dirty="0" err="1"/>
            <a:t>lr</a:t>
          </a:r>
          <a:r>
            <a:rPr lang="en-US" sz="1200" kern="1200" dirty="0"/>
            <a:t>, parameters, cv=10)</a:t>
          </a:r>
        </a:p>
      </dsp:txBody>
      <dsp:txXfrm>
        <a:off x="197226" y="1897327"/>
        <a:ext cx="3626636" cy="1624012"/>
      </dsp:txXfrm>
    </dsp:sp>
    <dsp:sp modelId="{940B59C6-CA3E-426A-A6B1-33F6C6EACDD6}">
      <dsp:nvSpPr>
        <dsp:cNvPr id="0" name=""/>
        <dsp:cNvSpPr/>
      </dsp:nvSpPr>
      <dsp:spPr>
        <a:xfrm>
          <a:off x="4099863" y="1897327"/>
          <a:ext cx="3825577" cy="16240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Train</a:t>
          </a:r>
        </a:p>
        <a:p>
          <a:pPr marL="0" lvl="0" indent="0" algn="ctr" defTabSz="755650">
            <a:lnSpc>
              <a:spcPct val="90000"/>
            </a:lnSpc>
            <a:spcBef>
              <a:spcPct val="0"/>
            </a:spcBef>
            <a:spcAft>
              <a:spcPct val="35000"/>
            </a:spcAft>
            <a:buNone/>
          </a:pPr>
          <a:r>
            <a:rPr lang="en-US" sz="1500" b="0" kern="1200" dirty="0"/>
            <a:t>Train the model using</a:t>
          </a:r>
        </a:p>
        <a:p>
          <a:pPr marL="0" lvl="0" indent="0" algn="ctr" defTabSz="755650">
            <a:lnSpc>
              <a:spcPct val="90000"/>
            </a:lnSpc>
            <a:spcBef>
              <a:spcPct val="0"/>
            </a:spcBef>
            <a:spcAft>
              <a:spcPct val="35000"/>
            </a:spcAft>
            <a:buNone/>
          </a:pPr>
          <a:r>
            <a:rPr lang="fr-FR" sz="1400" kern="1200" dirty="0" err="1"/>
            <a:t>logreg_cv.fit</a:t>
          </a:r>
          <a:r>
            <a:rPr lang="fr-FR" sz="1400" kern="1200" dirty="0"/>
            <a:t>(</a:t>
          </a:r>
          <a:r>
            <a:rPr lang="fr-FR" sz="1400" kern="1200" dirty="0" err="1"/>
            <a:t>X_train</a:t>
          </a:r>
          <a:r>
            <a:rPr lang="fr-FR" sz="1400" kern="1200" dirty="0"/>
            <a:t>, </a:t>
          </a:r>
          <a:r>
            <a:rPr lang="fr-FR" sz="1400" kern="1200" dirty="0" err="1"/>
            <a:t>Y_train</a:t>
          </a:r>
          <a:r>
            <a:rPr lang="fr-FR" sz="1400" kern="1200" dirty="0"/>
            <a:t>)</a:t>
          </a:r>
          <a:endParaRPr lang="en-US" sz="1400" kern="1200" dirty="0"/>
        </a:p>
      </dsp:txBody>
      <dsp:txXfrm>
        <a:off x="4099863" y="1897327"/>
        <a:ext cx="3825577" cy="1624012"/>
      </dsp:txXfrm>
    </dsp:sp>
    <dsp:sp modelId="{C02EEDCA-C4D2-45C9-8C34-30E8185DC32D}">
      <dsp:nvSpPr>
        <dsp:cNvPr id="0" name=""/>
        <dsp:cNvSpPr/>
      </dsp:nvSpPr>
      <dsp:spPr>
        <a:xfrm>
          <a:off x="1876617" y="3792008"/>
          <a:ext cx="4374764" cy="16240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Evaluate</a:t>
          </a:r>
        </a:p>
        <a:p>
          <a:pPr marL="0" lvl="0" indent="0" algn="ctr" defTabSz="755650">
            <a:lnSpc>
              <a:spcPct val="90000"/>
            </a:lnSpc>
            <a:spcBef>
              <a:spcPct val="0"/>
            </a:spcBef>
            <a:spcAft>
              <a:spcPct val="35000"/>
            </a:spcAft>
            <a:buNone/>
          </a:pPr>
          <a:r>
            <a:rPr lang="en-US" sz="1400" kern="1200" dirty="0"/>
            <a:t>Evaluate the accuracy of the model using</a:t>
          </a:r>
        </a:p>
        <a:p>
          <a:pPr marL="0" lvl="0" indent="0" algn="ctr" defTabSz="755650">
            <a:lnSpc>
              <a:spcPct val="90000"/>
            </a:lnSpc>
            <a:spcBef>
              <a:spcPct val="0"/>
            </a:spcBef>
            <a:spcAft>
              <a:spcPct val="35000"/>
            </a:spcAft>
            <a:buNone/>
          </a:pPr>
          <a:r>
            <a:rPr lang="en-US" sz="1400" kern="1200" dirty="0" err="1"/>
            <a:t>lr_optimized</a:t>
          </a:r>
          <a:r>
            <a:rPr lang="en-US" sz="1400" kern="1200" dirty="0"/>
            <a:t> = LogisticRegression(C=0.1, penalty='l2', solver='</a:t>
          </a:r>
          <a:r>
            <a:rPr lang="en-US" sz="1400" kern="1200" dirty="0" err="1"/>
            <a:t>lbfgs</a:t>
          </a:r>
          <a:r>
            <a:rPr lang="en-US" sz="1400" kern="1200" dirty="0"/>
            <a:t>').fit(</a:t>
          </a:r>
          <a:r>
            <a:rPr lang="en-US" sz="1400" kern="1200" dirty="0" err="1"/>
            <a:t>X_train</a:t>
          </a:r>
          <a:r>
            <a:rPr lang="en-US" sz="1400" kern="1200" dirty="0"/>
            <a:t>, </a:t>
          </a:r>
          <a:r>
            <a:rPr lang="en-US" sz="1400" kern="1200" dirty="0" err="1"/>
            <a:t>Y_train</a:t>
          </a:r>
          <a:r>
            <a:rPr lang="en-US" sz="1400" kern="1200" dirty="0"/>
            <a:t>)</a:t>
          </a:r>
        </a:p>
        <a:p>
          <a:pPr marL="0" lvl="0" indent="0" algn="ctr" defTabSz="755650">
            <a:lnSpc>
              <a:spcPct val="90000"/>
            </a:lnSpc>
            <a:spcBef>
              <a:spcPct val="0"/>
            </a:spcBef>
            <a:spcAft>
              <a:spcPct val="35000"/>
            </a:spcAft>
            <a:buNone/>
          </a:pPr>
          <a:r>
            <a:rPr lang="en-US" sz="1400" kern="1200" dirty="0" err="1"/>
            <a:t>lr_score</a:t>
          </a:r>
          <a:r>
            <a:rPr lang="en-US" sz="1400" kern="1200" dirty="0"/>
            <a:t> = </a:t>
          </a:r>
          <a:r>
            <a:rPr lang="en-US" sz="1400" kern="1200" dirty="0" err="1"/>
            <a:t>lr_optimized.score</a:t>
          </a:r>
          <a:r>
            <a:rPr lang="en-US" sz="1400" kern="1200" dirty="0"/>
            <a:t>(</a:t>
          </a:r>
          <a:r>
            <a:rPr lang="en-US" sz="1400" kern="1200" dirty="0" err="1"/>
            <a:t>X_test</a:t>
          </a:r>
          <a:r>
            <a:rPr lang="en-US" sz="1400" kern="1200" dirty="0"/>
            <a:t>, </a:t>
          </a:r>
          <a:r>
            <a:rPr lang="en-US" sz="1400" kern="1200" dirty="0" err="1"/>
            <a:t>Y_test</a:t>
          </a:r>
          <a:r>
            <a:rPr lang="en-US" sz="1400" kern="1200" dirty="0"/>
            <a:t>)</a:t>
          </a:r>
        </a:p>
        <a:p>
          <a:pPr marL="0" lvl="0" indent="0" algn="ctr" defTabSz="755650">
            <a:lnSpc>
              <a:spcPct val="90000"/>
            </a:lnSpc>
            <a:spcBef>
              <a:spcPct val="0"/>
            </a:spcBef>
            <a:spcAft>
              <a:spcPct val="35000"/>
            </a:spcAft>
            <a:buNone/>
          </a:pPr>
          <a:r>
            <a:rPr lang="en-US" sz="1400" kern="1200" dirty="0"/>
            <a:t>print('Accuracy Score: {}' .format(</a:t>
          </a:r>
          <a:r>
            <a:rPr lang="en-US" sz="1400" kern="1200" dirty="0" err="1"/>
            <a:t>lr_score</a:t>
          </a:r>
          <a:r>
            <a:rPr lang="en-US" sz="1400" kern="1200" dirty="0"/>
            <a:t>))</a:t>
          </a:r>
        </a:p>
      </dsp:txBody>
      <dsp:txXfrm>
        <a:off x="1876617" y="3792008"/>
        <a:ext cx="4374764" cy="1624012"/>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4/7/2026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pacelaunchschedule.com/space-news/live-coverage-spacex-to-launch-24-starlink-satellites-on-falcon-9-rocket-from-vandenberg-sfb/" TargetMode="External"/><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space-centre-dev.azurewebsites.net/collections/categories/space-memorabilia/spacex-thales-falcon-9-patch/" TargetMode="External"/><Relationship Id="rId2" Type="http://schemas.openxmlformats.org/officeDocument/2006/relationships/image" Target="../media/image5.jpg"/><Relationship Id="rId1" Type="http://schemas.openxmlformats.org/officeDocument/2006/relationships/slideLayout" Target="../slideLayouts/slideLayout10.xml"/><Relationship Id="rId4" Type="http://schemas.openxmlformats.org/officeDocument/2006/relationships/hyperlink" Target="https://creativecommons.org/licenses/by-nc/3.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s://github.com/pwheelis/IBM-Applied-Data-Science-Capstone/blob/main/jupyter-labs-spacex-data-collection-api.ipynb" TargetMode="Externa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hyperlink" Target="https://github.com/pwheelis/IBM-Applied-Data-Science-Capstone/blob/main/jupyter-labs-webscraping.ipynb" TargetMode="Externa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hyperlink" Target="https://github.com/pwheelis/IBM-Applied-Data-Science-Capstone/blob/main/labs-jupyter-spacex-Data%20wrangling.ipynb" TargetMode="Externa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pwheelis/IBM-Applied-Data-Science-Capstone/blob/main/jupyter-labs-eda-viz.ipynb"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wheelis/IBM-Applied-Data-Science-Capstone/blob/main/spacex-dash-app.py" TargetMode="External"/><Relationship Id="rId2" Type="http://schemas.openxmlformats.org/officeDocument/2006/relationships/hyperlink" Target="https://github.com/pwheelis/IBM-Applied-Data-Science-Capstone/blob/main/lab_jupyter_launch_site_location_folium.ipynb"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pwheelis/IBM-Applied-Data-Science-Capstone/blob/main/jupyter-labs-eda-sql-coursera_sqllite.ipynb"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pwheelis/IBM-Applied-Data-Science-Capstone/blob/main/SpaceX_Machine%20Learning%20Prediction_Part_5.ipynb"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hyperlink" Target="https://github.com/pwheelis/IBM-Applied-Data-Science-Capstone/tree/main"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07104-2B87-4D10-AA70-A8CACAAE70F6}"/>
              </a:ext>
            </a:extLst>
          </p:cNvPr>
          <p:cNvSpPr>
            <a:spLocks noGrp="1"/>
          </p:cNvSpPr>
          <p:nvPr>
            <p:ph type="ctrTitle"/>
          </p:nvPr>
        </p:nvSpPr>
        <p:spPr/>
        <p:txBody>
          <a:bodyPr/>
          <a:lstStyle/>
          <a:p>
            <a:pPr algn="ctr"/>
            <a:r>
              <a:rPr lang="en-US" dirty="0"/>
              <a:t>IBM Applied Data Science Capstone Project</a:t>
            </a:r>
          </a:p>
        </p:txBody>
      </p:sp>
      <p:sp>
        <p:nvSpPr>
          <p:cNvPr id="3" name="Subtitle 2">
            <a:extLst>
              <a:ext uri="{FF2B5EF4-FFF2-40B4-BE49-F238E27FC236}">
                <a16:creationId xmlns:a16="http://schemas.microsoft.com/office/drawing/2014/main" id="{235B7546-5EF3-36D9-D202-EE0AE0940A20}"/>
              </a:ext>
            </a:extLst>
          </p:cNvPr>
          <p:cNvSpPr>
            <a:spLocks noGrp="1"/>
          </p:cNvSpPr>
          <p:nvPr>
            <p:ph type="subTitle" idx="1"/>
          </p:nvPr>
        </p:nvSpPr>
        <p:spPr>
          <a:xfrm>
            <a:off x="3962399" y="5040155"/>
            <a:ext cx="7197726" cy="1405467"/>
          </a:xfrm>
        </p:spPr>
        <p:txBody>
          <a:bodyPr>
            <a:normAutofit/>
          </a:bodyPr>
          <a:lstStyle/>
          <a:p>
            <a:r>
              <a:rPr lang="en-US" sz="1600" dirty="0"/>
              <a:t>Patricia Wheelis</a:t>
            </a:r>
          </a:p>
          <a:p>
            <a:r>
              <a:rPr lang="en-US" sz="1600" dirty="0"/>
              <a:t>April 6, 2026</a:t>
            </a:r>
          </a:p>
        </p:txBody>
      </p:sp>
    </p:spTree>
    <p:extLst>
      <p:ext uri="{BB962C8B-B14F-4D97-AF65-F5344CB8AC3E}">
        <p14:creationId xmlns:p14="http://schemas.microsoft.com/office/powerpoint/2010/main" val="209078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F921-850A-F83D-399A-811625551BBC}"/>
              </a:ext>
            </a:extLst>
          </p:cNvPr>
          <p:cNvSpPr>
            <a:spLocks noGrp="1"/>
          </p:cNvSpPr>
          <p:nvPr>
            <p:ph type="title"/>
          </p:nvPr>
        </p:nvSpPr>
        <p:spPr>
          <a:xfrm>
            <a:off x="2205318" y="1519518"/>
            <a:ext cx="1606100" cy="596153"/>
          </a:xfrm>
        </p:spPr>
        <p:txBody>
          <a:bodyPr/>
          <a:lstStyle/>
          <a:p>
            <a:pPr algn="r"/>
            <a:r>
              <a:rPr lang="en-US" dirty="0"/>
              <a:t>Outline</a:t>
            </a:r>
          </a:p>
        </p:txBody>
      </p:sp>
      <p:sp>
        <p:nvSpPr>
          <p:cNvPr id="4" name="Text Placeholder 3">
            <a:extLst>
              <a:ext uri="{FF2B5EF4-FFF2-40B4-BE49-F238E27FC236}">
                <a16:creationId xmlns:a16="http://schemas.microsoft.com/office/drawing/2014/main" id="{090C4EAC-C409-BC20-C460-D6110083081D}"/>
              </a:ext>
            </a:extLst>
          </p:cNvPr>
          <p:cNvSpPr>
            <a:spLocks noGrp="1"/>
          </p:cNvSpPr>
          <p:nvPr>
            <p:ph type="body" sz="half" idx="2"/>
          </p:nvPr>
        </p:nvSpPr>
        <p:spPr>
          <a:xfrm>
            <a:off x="1963271" y="2382361"/>
            <a:ext cx="3110754" cy="3334871"/>
          </a:xfrm>
        </p:spPr>
        <p:txBody>
          <a:bodyPr>
            <a:normAutofit/>
          </a:bodyPr>
          <a:lstStyle/>
          <a:p>
            <a:pPr marL="285750" indent="-285750">
              <a:buFont typeface="Wingdings" panose="05000000000000000000" pitchFamily="2" charset="2"/>
              <a:buChar char="v"/>
            </a:pPr>
            <a:r>
              <a:rPr lang="en-US" dirty="0"/>
              <a:t>Executive Summary</a:t>
            </a:r>
          </a:p>
          <a:p>
            <a:pPr marL="285750" indent="-285750">
              <a:buFont typeface="Wingdings" panose="05000000000000000000" pitchFamily="2" charset="2"/>
              <a:buChar char="v"/>
            </a:pPr>
            <a:r>
              <a:rPr lang="en-US" dirty="0"/>
              <a:t>Introduction</a:t>
            </a:r>
          </a:p>
          <a:p>
            <a:pPr marL="285750" indent="-285750">
              <a:buFont typeface="Wingdings" panose="05000000000000000000" pitchFamily="2" charset="2"/>
              <a:buChar char="v"/>
            </a:pPr>
            <a:r>
              <a:rPr lang="en-US" dirty="0"/>
              <a:t>Methodology</a:t>
            </a:r>
          </a:p>
          <a:p>
            <a:pPr marL="285750" indent="-285750">
              <a:buFont typeface="Wingdings" panose="05000000000000000000" pitchFamily="2" charset="2"/>
              <a:buChar char="v"/>
            </a:pPr>
            <a:r>
              <a:rPr lang="en-US" dirty="0"/>
              <a:t>Results</a:t>
            </a:r>
          </a:p>
          <a:p>
            <a:pPr marL="285750" indent="-285750">
              <a:buFont typeface="Wingdings" panose="05000000000000000000" pitchFamily="2" charset="2"/>
              <a:buChar char="v"/>
            </a:pPr>
            <a:r>
              <a:rPr lang="en-US" dirty="0"/>
              <a:t>Conclusion</a:t>
            </a:r>
          </a:p>
          <a:p>
            <a:pPr marL="285750" indent="-285750">
              <a:buFont typeface="Wingdings" panose="05000000000000000000" pitchFamily="2" charset="2"/>
              <a:buChar char="v"/>
            </a:pPr>
            <a:r>
              <a:rPr lang="en-US" dirty="0"/>
              <a:t>Appendix</a:t>
            </a:r>
          </a:p>
        </p:txBody>
      </p:sp>
      <p:pic>
        <p:nvPicPr>
          <p:cNvPr id="15" name="Picture Placeholder 14">
            <a:extLst>
              <a:ext uri="{FF2B5EF4-FFF2-40B4-BE49-F238E27FC236}">
                <a16:creationId xmlns:a16="http://schemas.microsoft.com/office/drawing/2014/main" id="{EF0F7AB7-F64E-6F65-C7F2-E9B08F5D6467}"/>
              </a:ext>
            </a:extLst>
          </p:cNvPr>
          <p:cNvPicPr>
            <a:picLocks noGrp="1" noChangeAspect="1"/>
          </p:cNvPicPr>
          <p:nvPr>
            <p:ph type="pic" idx="1"/>
          </p:nvPr>
        </p:nvPicPr>
        <p:blipFill>
          <a:blip r:embed="rId2">
            <a:extLst>
              <a:ext uri="{837473B0-CC2E-450A-ABE3-18F120FF3D39}">
                <a1611:picAttrSrcUrl xmlns:a1611="http://schemas.microsoft.com/office/drawing/2016/11/main" r:id="rId3"/>
              </a:ext>
            </a:extLst>
          </a:blip>
          <a:srcRect l="26076" r="26076"/>
          <a:stretch>
            <a:fillRect/>
          </a:stretch>
        </p:blipFill>
        <p:spPr/>
      </p:pic>
      <p:sp>
        <p:nvSpPr>
          <p:cNvPr id="16" name="TextBox 15">
            <a:extLst>
              <a:ext uri="{FF2B5EF4-FFF2-40B4-BE49-F238E27FC236}">
                <a16:creationId xmlns:a16="http://schemas.microsoft.com/office/drawing/2014/main" id="{C32FD02B-2A27-3632-ED34-A428F0D1F0BB}"/>
              </a:ext>
            </a:extLst>
          </p:cNvPr>
          <p:cNvSpPr txBox="1"/>
          <p:nvPr/>
        </p:nvSpPr>
        <p:spPr>
          <a:xfrm>
            <a:off x="7536253" y="5486400"/>
            <a:ext cx="3280974" cy="507831"/>
          </a:xfrm>
          <a:prstGeom prst="rect">
            <a:avLst/>
          </a:prstGeom>
          <a:noFill/>
        </p:spPr>
        <p:txBody>
          <a:bodyPr wrap="square" rtlCol="0">
            <a:spAutoFit/>
          </a:bodyPr>
          <a:lstStyle/>
          <a:p>
            <a:r>
              <a:rPr lang="en-US" sz="900" dirty="0"/>
              <a:t>Photo credit: https://www.spacelaunchschedule.com/wp-content/uploads/2026/02/20240214_Starlink_7-14_prelaunch_small-678x452-9.jpg</a:t>
            </a:r>
          </a:p>
        </p:txBody>
      </p:sp>
    </p:spTree>
    <p:extLst>
      <p:ext uri="{BB962C8B-B14F-4D97-AF65-F5344CB8AC3E}">
        <p14:creationId xmlns:p14="http://schemas.microsoft.com/office/powerpoint/2010/main" val="4143858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4AE9-F045-3FDF-CD6C-94ED31DC7510}"/>
              </a:ext>
            </a:extLst>
          </p:cNvPr>
          <p:cNvSpPr>
            <a:spLocks noGrp="1"/>
          </p:cNvSpPr>
          <p:nvPr>
            <p:ph type="title"/>
          </p:nvPr>
        </p:nvSpPr>
        <p:spPr>
          <a:xfrm>
            <a:off x="856130" y="179899"/>
            <a:ext cx="10131427" cy="931725"/>
          </a:xfrm>
        </p:spPr>
        <p:txBody>
          <a:bodyPr/>
          <a:lstStyle/>
          <a:p>
            <a:pPr algn="ctr"/>
            <a:r>
              <a:rPr lang="en-US" dirty="0"/>
              <a:t>Executive Summary</a:t>
            </a:r>
          </a:p>
        </p:txBody>
      </p:sp>
      <p:sp>
        <p:nvSpPr>
          <p:cNvPr id="3" name="Text Placeholder 2">
            <a:extLst>
              <a:ext uri="{FF2B5EF4-FFF2-40B4-BE49-F238E27FC236}">
                <a16:creationId xmlns:a16="http://schemas.microsoft.com/office/drawing/2014/main" id="{FA2AC0B4-332E-7DED-8B0E-44D4616314B7}"/>
              </a:ext>
            </a:extLst>
          </p:cNvPr>
          <p:cNvSpPr>
            <a:spLocks noGrp="1"/>
          </p:cNvSpPr>
          <p:nvPr>
            <p:ph type="body" idx="1"/>
          </p:nvPr>
        </p:nvSpPr>
        <p:spPr>
          <a:xfrm>
            <a:off x="685798" y="1111624"/>
            <a:ext cx="10131428" cy="5566477"/>
          </a:xfrm>
        </p:spPr>
        <p:txBody>
          <a:bodyPr>
            <a:normAutofit/>
          </a:bodyPr>
          <a:lstStyle/>
          <a:p>
            <a:r>
              <a:rPr lang="en-US" sz="2400" dirty="0"/>
              <a:t>Summary of Methodologies</a:t>
            </a:r>
            <a:endParaRPr lang="en-US" dirty="0"/>
          </a:p>
          <a:p>
            <a:pPr lvl="1"/>
            <a:r>
              <a:rPr lang="en-US" sz="2000" dirty="0"/>
              <a:t>Data collection and wrangling</a:t>
            </a:r>
          </a:p>
          <a:p>
            <a:pPr lvl="1"/>
            <a:r>
              <a:rPr lang="en-US" sz="2000" dirty="0"/>
              <a:t>Data analysis</a:t>
            </a:r>
          </a:p>
          <a:p>
            <a:pPr lvl="1"/>
            <a:r>
              <a:rPr lang="en-US" sz="2000" dirty="0"/>
              <a:t>Data visualization</a:t>
            </a:r>
          </a:p>
          <a:p>
            <a:pPr lvl="1"/>
            <a:r>
              <a:rPr lang="en-US" sz="2000" dirty="0"/>
              <a:t>Machine learning prediction</a:t>
            </a:r>
          </a:p>
          <a:p>
            <a:pPr lvl="1"/>
            <a:endParaRPr lang="en-US" sz="1600" dirty="0"/>
          </a:p>
          <a:p>
            <a:pPr lvl="1"/>
            <a:endParaRPr lang="en-US" sz="1600" dirty="0"/>
          </a:p>
          <a:p>
            <a:r>
              <a:rPr lang="en-US" sz="2400" dirty="0"/>
              <a:t>Summary of Results</a:t>
            </a:r>
          </a:p>
          <a:p>
            <a:pPr lvl="1"/>
            <a:r>
              <a:rPr lang="en-US" sz="2000" dirty="0"/>
              <a:t>Exploratory data analysis results</a:t>
            </a:r>
          </a:p>
          <a:p>
            <a:pPr lvl="1"/>
            <a:r>
              <a:rPr lang="en-US" sz="2000" dirty="0"/>
              <a:t>Interactive analysis demo in screenshots</a:t>
            </a:r>
          </a:p>
          <a:p>
            <a:pPr lvl="1"/>
            <a:r>
              <a:rPr lang="en-US" sz="2000" dirty="0"/>
              <a:t>Predictive analysis results</a:t>
            </a:r>
          </a:p>
          <a:p>
            <a:endParaRPr lang="en-US" sz="2400" dirty="0"/>
          </a:p>
        </p:txBody>
      </p:sp>
    </p:spTree>
    <p:extLst>
      <p:ext uri="{BB962C8B-B14F-4D97-AF65-F5344CB8AC3E}">
        <p14:creationId xmlns:p14="http://schemas.microsoft.com/office/powerpoint/2010/main" val="1059918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D51A6-EF84-D4A5-C7AD-6B5059281EE6}"/>
              </a:ext>
            </a:extLst>
          </p:cNvPr>
          <p:cNvSpPr>
            <a:spLocks noGrp="1"/>
          </p:cNvSpPr>
          <p:nvPr>
            <p:ph type="title"/>
          </p:nvPr>
        </p:nvSpPr>
        <p:spPr>
          <a:xfrm>
            <a:off x="632011" y="2924137"/>
            <a:ext cx="10131427" cy="566738"/>
          </a:xfrm>
        </p:spPr>
        <p:txBody>
          <a:bodyPr/>
          <a:lstStyle/>
          <a:p>
            <a:pPr algn="ctr"/>
            <a:r>
              <a:rPr lang="en-US" dirty="0"/>
              <a:t>Introduction</a:t>
            </a:r>
          </a:p>
        </p:txBody>
      </p:sp>
      <p:pic>
        <p:nvPicPr>
          <p:cNvPr id="6" name="Picture Placeholder 5">
            <a:extLst>
              <a:ext uri="{FF2B5EF4-FFF2-40B4-BE49-F238E27FC236}">
                <a16:creationId xmlns:a16="http://schemas.microsoft.com/office/drawing/2014/main" id="{2E624A74-DE75-9D68-932A-58DA20917892}"/>
              </a:ext>
            </a:extLst>
          </p:cNvPr>
          <p:cNvPicPr>
            <a:picLocks noGrp="1" noChangeAspect="1"/>
          </p:cNvPicPr>
          <p:nvPr>
            <p:ph type="pic" idx="1"/>
          </p:nvPr>
        </p:nvPicPr>
        <p:blipFill>
          <a:blip r:embed="rId2">
            <a:extLst>
              <a:ext uri="{837473B0-CC2E-450A-ABE3-18F120FF3D39}">
                <a1611:picAttrSrcUrl xmlns:a1611="http://schemas.microsoft.com/office/drawing/2016/11/main" r:id="rId3"/>
              </a:ext>
            </a:extLst>
          </a:blip>
          <a:srcRect t="14916" b="14916"/>
          <a:stretch>
            <a:fillRect/>
          </a:stretch>
        </p:blipFill>
        <p:spPr>
          <a:xfrm>
            <a:off x="1219200" y="240049"/>
            <a:ext cx="8759827" cy="25339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Text Placeholder 3">
            <a:extLst>
              <a:ext uri="{FF2B5EF4-FFF2-40B4-BE49-F238E27FC236}">
                <a16:creationId xmlns:a16="http://schemas.microsoft.com/office/drawing/2014/main" id="{34FD85E9-8C98-BEAC-1B4C-0FDC5BD9642C}"/>
              </a:ext>
            </a:extLst>
          </p:cNvPr>
          <p:cNvSpPr>
            <a:spLocks noGrp="1"/>
          </p:cNvSpPr>
          <p:nvPr>
            <p:ph type="body" sz="half" idx="2"/>
          </p:nvPr>
        </p:nvSpPr>
        <p:spPr>
          <a:xfrm>
            <a:off x="632012" y="3490875"/>
            <a:ext cx="10131427" cy="2926212"/>
          </a:xfrm>
        </p:spPr>
        <p:txBody>
          <a:bodyPr/>
          <a:lstStyle/>
          <a:p>
            <a:r>
              <a:rPr lang="en-MY" sz="1600" dirty="0"/>
              <a:t>SpaceX advertises Falcon 9 rocket launches on its website with a cost of 62 million dollars while other providers cost upward of 165 million dollars. Much of the savings is because SpaceX can reuse the first stage. Therefore if we can determine if the first stage will land, we can determine the cost of a launch. Based on public information and machine learning models, we are going to predict if SpaceX will reuse the first stage.</a:t>
            </a:r>
          </a:p>
          <a:p>
            <a:endParaRPr lang="en-MY" sz="1600" dirty="0"/>
          </a:p>
          <a:p>
            <a:r>
              <a:rPr lang="en-MY" sz="1600" dirty="0"/>
              <a:t>Questions to be answered</a:t>
            </a:r>
          </a:p>
          <a:p>
            <a:pPr marL="285750" indent="-285750">
              <a:buFont typeface="Wingdings" panose="05000000000000000000" pitchFamily="2" charset="2"/>
              <a:buChar char="v"/>
            </a:pPr>
            <a:r>
              <a:rPr lang="en-US" dirty="0"/>
              <a:t>How do variables such as payload mass, launch site, number of flights, and orbits affect the success of the first stage landing?</a:t>
            </a:r>
          </a:p>
          <a:p>
            <a:pPr marL="285750" indent="-285750">
              <a:buFont typeface="Wingdings" panose="05000000000000000000" pitchFamily="2" charset="2"/>
              <a:buChar char="v"/>
            </a:pPr>
            <a:r>
              <a:rPr lang="en-US" dirty="0"/>
              <a:t>Does the rate of successful landings increase over time?</a:t>
            </a:r>
          </a:p>
          <a:p>
            <a:pPr marL="285750" indent="-285750">
              <a:buFont typeface="Wingdings" panose="05000000000000000000" pitchFamily="2" charset="2"/>
              <a:buChar char="v"/>
            </a:pPr>
            <a:r>
              <a:rPr lang="en-US" dirty="0"/>
              <a:t>What is the best algorithm to be used for binary classification in this case?</a:t>
            </a:r>
          </a:p>
        </p:txBody>
      </p:sp>
      <p:sp>
        <p:nvSpPr>
          <p:cNvPr id="7" name="TextBox 6">
            <a:extLst>
              <a:ext uri="{FF2B5EF4-FFF2-40B4-BE49-F238E27FC236}">
                <a16:creationId xmlns:a16="http://schemas.microsoft.com/office/drawing/2014/main" id="{A71E334A-3729-FBC1-95B0-6805BBC1E1D3}"/>
              </a:ext>
            </a:extLst>
          </p:cNvPr>
          <p:cNvSpPr txBox="1"/>
          <p:nvPr/>
        </p:nvSpPr>
        <p:spPr>
          <a:xfrm>
            <a:off x="80682" y="2511131"/>
            <a:ext cx="3030071" cy="230832"/>
          </a:xfrm>
          <a:prstGeom prst="rect">
            <a:avLst/>
          </a:prstGeom>
          <a:noFill/>
        </p:spPr>
        <p:txBody>
          <a:bodyPr wrap="square" rtlCol="0">
            <a:spAutoFit/>
          </a:bodyPr>
          <a:lstStyle/>
          <a:p>
            <a:r>
              <a:rPr lang="en-US" sz="900">
                <a:hlinkClick r:id="rId3" tooltip="https://space-centre-dev.azurewebsites.net/collections/categories/space-memorabilia/spacex-thales-falcon-9-patch/"/>
              </a:rPr>
              <a:t>This Photo</a:t>
            </a:r>
            <a:r>
              <a:rPr lang="en-US" sz="900"/>
              <a:t> by Unknown Author is licensed under </a:t>
            </a:r>
            <a:r>
              <a:rPr lang="en-US" sz="900">
                <a:hlinkClick r:id="rId4" tooltip="https://creativecommons.org/licenses/by-nc/3.0/"/>
              </a:rPr>
              <a:t>CC BY-NC</a:t>
            </a:r>
            <a:endParaRPr lang="en-US" sz="900"/>
          </a:p>
        </p:txBody>
      </p:sp>
    </p:spTree>
    <p:extLst>
      <p:ext uri="{BB962C8B-B14F-4D97-AF65-F5344CB8AC3E}">
        <p14:creationId xmlns:p14="http://schemas.microsoft.com/office/powerpoint/2010/main" val="460705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5E574-26AB-0487-0D0F-3416AB8342EA}"/>
              </a:ext>
            </a:extLst>
          </p:cNvPr>
          <p:cNvSpPr>
            <a:spLocks noGrp="1"/>
          </p:cNvSpPr>
          <p:nvPr>
            <p:ph type="title"/>
          </p:nvPr>
        </p:nvSpPr>
        <p:spPr>
          <a:xfrm>
            <a:off x="1030287" y="2770093"/>
            <a:ext cx="10131425" cy="1456267"/>
          </a:xfrm>
        </p:spPr>
        <p:txBody>
          <a:bodyPr>
            <a:normAutofit/>
          </a:bodyPr>
          <a:lstStyle/>
          <a:p>
            <a:pPr algn="ctr"/>
            <a:r>
              <a:rPr lang="en-US" sz="6000" b="1" dirty="0"/>
              <a:t>Methodology</a:t>
            </a:r>
          </a:p>
        </p:txBody>
      </p:sp>
    </p:spTree>
    <p:extLst>
      <p:ext uri="{BB962C8B-B14F-4D97-AF65-F5344CB8AC3E}">
        <p14:creationId xmlns:p14="http://schemas.microsoft.com/office/powerpoint/2010/main" val="1483651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A8B30-D45A-754C-8614-9C6DCF4876C6}"/>
              </a:ext>
            </a:extLst>
          </p:cNvPr>
          <p:cNvSpPr>
            <a:spLocks noGrp="1"/>
          </p:cNvSpPr>
          <p:nvPr>
            <p:ph type="title"/>
          </p:nvPr>
        </p:nvSpPr>
        <p:spPr>
          <a:xfrm>
            <a:off x="685800" y="215154"/>
            <a:ext cx="10131427" cy="726140"/>
          </a:xfrm>
        </p:spPr>
        <p:txBody>
          <a:bodyPr/>
          <a:lstStyle/>
          <a:p>
            <a:pPr algn="ctr"/>
            <a:r>
              <a:rPr lang="en-US" dirty="0"/>
              <a:t>Methodologies</a:t>
            </a:r>
          </a:p>
        </p:txBody>
      </p:sp>
      <p:sp>
        <p:nvSpPr>
          <p:cNvPr id="3" name="Text Placeholder 2">
            <a:extLst>
              <a:ext uri="{FF2B5EF4-FFF2-40B4-BE49-F238E27FC236}">
                <a16:creationId xmlns:a16="http://schemas.microsoft.com/office/drawing/2014/main" id="{5F313F6D-CB93-DA38-D6E5-3A4FED9FA652}"/>
              </a:ext>
            </a:extLst>
          </p:cNvPr>
          <p:cNvSpPr>
            <a:spLocks noGrp="1"/>
          </p:cNvSpPr>
          <p:nvPr>
            <p:ph type="body" idx="1"/>
          </p:nvPr>
        </p:nvSpPr>
        <p:spPr>
          <a:xfrm>
            <a:off x="685800" y="824753"/>
            <a:ext cx="10131428" cy="5818093"/>
          </a:xfrm>
        </p:spPr>
        <p:txBody>
          <a:bodyPr>
            <a:normAutofit fontScale="77500" lnSpcReduction="20000"/>
          </a:bodyPr>
          <a:lstStyle/>
          <a:p>
            <a:pPr marL="914400" lvl="1" indent="-457200">
              <a:buFont typeface="+mj-lt"/>
              <a:buAutoNum type="arabicPeriod"/>
            </a:pPr>
            <a:r>
              <a:rPr lang="en-US" sz="2200" dirty="0"/>
              <a:t>Data collecting and wrangling</a:t>
            </a:r>
          </a:p>
          <a:p>
            <a:pPr lvl="2"/>
            <a:r>
              <a:rPr lang="en-US" sz="2200" dirty="0"/>
              <a:t>Collecting: SpaceX API, Web scraping</a:t>
            </a:r>
          </a:p>
          <a:p>
            <a:pPr lvl="2"/>
            <a:r>
              <a:rPr lang="en-US" sz="2200" dirty="0"/>
              <a:t>Wrangling: Apply filters, address missing values, use one-hot encoding to encode categorical features </a:t>
            </a:r>
          </a:p>
          <a:p>
            <a:pPr lvl="2"/>
            <a:endParaRPr lang="en-US" sz="1800" dirty="0"/>
          </a:p>
          <a:p>
            <a:pPr marL="914400" lvl="1" indent="-457200">
              <a:buFont typeface="+mj-lt"/>
              <a:buAutoNum type="arabicPeriod"/>
            </a:pPr>
            <a:r>
              <a:rPr lang="en-US" sz="2200" dirty="0"/>
              <a:t>Exploratory data analysis (EDA)</a:t>
            </a:r>
          </a:p>
          <a:p>
            <a:pPr lvl="2"/>
            <a:r>
              <a:rPr lang="en-US" sz="2200" dirty="0"/>
              <a:t>Pandas and NumPy </a:t>
            </a:r>
          </a:p>
          <a:p>
            <a:pPr lvl="2"/>
            <a:r>
              <a:rPr lang="en-US" sz="2200" dirty="0"/>
              <a:t>SQL</a:t>
            </a:r>
          </a:p>
          <a:p>
            <a:pPr lvl="2"/>
            <a:r>
              <a:rPr lang="en-US" sz="2200" dirty="0"/>
              <a:t>Matplotlib and Seaborn</a:t>
            </a:r>
          </a:p>
          <a:p>
            <a:pPr lvl="2"/>
            <a:r>
              <a:rPr lang="en-US" sz="2200" dirty="0"/>
              <a:t>Folium</a:t>
            </a:r>
          </a:p>
          <a:p>
            <a:pPr lvl="2"/>
            <a:r>
              <a:rPr lang="en-US" sz="2200" dirty="0"/>
              <a:t>Dash</a:t>
            </a:r>
          </a:p>
          <a:p>
            <a:pPr lvl="2"/>
            <a:endParaRPr lang="en-US" sz="1800" dirty="0"/>
          </a:p>
          <a:p>
            <a:pPr marL="914400" lvl="1" indent="-457200">
              <a:buFont typeface="+mj-lt"/>
              <a:buAutoNum type="arabicPeriod"/>
            </a:pPr>
            <a:r>
              <a:rPr lang="en-US" sz="2200" dirty="0"/>
              <a:t>Machine learning prediction</a:t>
            </a:r>
          </a:p>
          <a:p>
            <a:pPr lvl="2"/>
            <a:r>
              <a:rPr lang="en-US" sz="2200" dirty="0"/>
              <a:t>Logistic regression</a:t>
            </a:r>
          </a:p>
          <a:p>
            <a:pPr lvl="2"/>
            <a:r>
              <a:rPr lang="en-US" sz="2200" dirty="0"/>
              <a:t>Support vector machine (SVM)</a:t>
            </a:r>
          </a:p>
          <a:p>
            <a:pPr lvl="2"/>
            <a:r>
              <a:rPr lang="en-US" sz="2200" dirty="0"/>
              <a:t>Decision tree</a:t>
            </a:r>
          </a:p>
          <a:p>
            <a:pPr lvl="2"/>
            <a:r>
              <a:rPr lang="en-US" sz="2200" dirty="0"/>
              <a:t>K-nearest neighbors (KNN)</a:t>
            </a:r>
          </a:p>
          <a:p>
            <a:endParaRPr lang="en-US" dirty="0"/>
          </a:p>
        </p:txBody>
      </p:sp>
    </p:spTree>
    <p:extLst>
      <p:ext uri="{BB962C8B-B14F-4D97-AF65-F5344CB8AC3E}">
        <p14:creationId xmlns:p14="http://schemas.microsoft.com/office/powerpoint/2010/main" val="545354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B02E0-AFEE-59FE-EF99-C59F9C607E36}"/>
              </a:ext>
            </a:extLst>
          </p:cNvPr>
          <p:cNvSpPr>
            <a:spLocks noGrp="1"/>
          </p:cNvSpPr>
          <p:nvPr>
            <p:ph type="title"/>
          </p:nvPr>
        </p:nvSpPr>
        <p:spPr>
          <a:xfrm>
            <a:off x="685799" y="367552"/>
            <a:ext cx="10131427" cy="1205149"/>
          </a:xfrm>
        </p:spPr>
        <p:txBody>
          <a:bodyPr>
            <a:normAutofit fontScale="90000"/>
          </a:bodyPr>
          <a:lstStyle/>
          <a:p>
            <a:r>
              <a:rPr lang="en-US" dirty="0"/>
              <a:t>Methodology 1 </a:t>
            </a:r>
            <a:br>
              <a:rPr lang="en-US" dirty="0"/>
            </a:br>
            <a:r>
              <a:rPr lang="en-US" dirty="0"/>
              <a:t>Data Collecting</a:t>
            </a:r>
          </a:p>
        </p:txBody>
      </p:sp>
      <p:sp>
        <p:nvSpPr>
          <p:cNvPr id="3" name="Text Placeholder 2">
            <a:extLst>
              <a:ext uri="{FF2B5EF4-FFF2-40B4-BE49-F238E27FC236}">
                <a16:creationId xmlns:a16="http://schemas.microsoft.com/office/drawing/2014/main" id="{DB01EC92-4CC5-B1B0-1A10-DC790D92CEDC}"/>
              </a:ext>
            </a:extLst>
          </p:cNvPr>
          <p:cNvSpPr>
            <a:spLocks noGrp="1"/>
          </p:cNvSpPr>
          <p:nvPr>
            <p:ph type="body" idx="1"/>
          </p:nvPr>
        </p:nvSpPr>
        <p:spPr>
          <a:xfrm>
            <a:off x="685799" y="1693522"/>
            <a:ext cx="10131428" cy="4796925"/>
          </a:xfrm>
        </p:spPr>
        <p:txBody>
          <a:bodyPr/>
          <a:lstStyle/>
          <a:p>
            <a:r>
              <a:rPr lang="en-US" dirty="0"/>
              <a:t>Flowchart of steps taken in data collection using API</a:t>
            </a:r>
          </a:p>
        </p:txBody>
      </p:sp>
      <p:graphicFrame>
        <p:nvGraphicFramePr>
          <p:cNvPr id="6" name="Diagram 5">
            <a:extLst>
              <a:ext uri="{FF2B5EF4-FFF2-40B4-BE49-F238E27FC236}">
                <a16:creationId xmlns:a16="http://schemas.microsoft.com/office/drawing/2014/main" id="{707BFC92-F1C5-86FE-683F-0B8DC0208DDE}"/>
              </a:ext>
            </a:extLst>
          </p:cNvPr>
          <p:cNvGraphicFramePr/>
          <p:nvPr>
            <p:extLst>
              <p:ext uri="{D42A27DB-BD31-4B8C-83A1-F6EECF244321}">
                <p14:modId xmlns:p14="http://schemas.microsoft.com/office/powerpoint/2010/main" val="1626150569"/>
              </p:ext>
            </p:extLst>
          </p:nvPr>
        </p:nvGraphicFramePr>
        <p:xfrm>
          <a:off x="685799" y="1702735"/>
          <a:ext cx="9274897" cy="49433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D9602E63-F6CB-D5F1-B546-46D2F9C592CE}"/>
              </a:ext>
            </a:extLst>
          </p:cNvPr>
          <p:cNvSpPr txBox="1"/>
          <p:nvPr/>
        </p:nvSpPr>
        <p:spPr>
          <a:xfrm>
            <a:off x="935182" y="5309755"/>
            <a:ext cx="2367828" cy="646331"/>
          </a:xfrm>
          <a:prstGeom prst="rect">
            <a:avLst/>
          </a:prstGeom>
          <a:noFill/>
        </p:spPr>
        <p:txBody>
          <a:bodyPr wrap="none" rtlCol="0">
            <a:spAutoFit/>
          </a:bodyPr>
          <a:lstStyle/>
          <a:p>
            <a:r>
              <a:rPr lang="en-US" dirty="0" err="1"/>
              <a:t>Github</a:t>
            </a:r>
            <a:r>
              <a:rPr lang="en-US" dirty="0"/>
              <a:t>: </a:t>
            </a:r>
            <a:r>
              <a:rPr lang="en-US" dirty="0">
                <a:hlinkClick r:id="rId7"/>
              </a:rPr>
              <a:t>Data Collection</a:t>
            </a:r>
            <a:endParaRPr lang="en-US" dirty="0"/>
          </a:p>
          <a:p>
            <a:endParaRPr lang="en-US" dirty="0"/>
          </a:p>
        </p:txBody>
      </p:sp>
    </p:spTree>
    <p:extLst>
      <p:ext uri="{BB962C8B-B14F-4D97-AF65-F5344CB8AC3E}">
        <p14:creationId xmlns:p14="http://schemas.microsoft.com/office/powerpoint/2010/main" val="1128324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541D6-D9FA-BF85-36B9-023F28AC6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6BA93-85F3-8180-1C09-640F34487ABC}"/>
              </a:ext>
            </a:extLst>
          </p:cNvPr>
          <p:cNvSpPr>
            <a:spLocks noGrp="1"/>
          </p:cNvSpPr>
          <p:nvPr>
            <p:ph type="title"/>
          </p:nvPr>
        </p:nvSpPr>
        <p:spPr>
          <a:xfrm>
            <a:off x="685799" y="367552"/>
            <a:ext cx="10131427" cy="1205149"/>
          </a:xfrm>
        </p:spPr>
        <p:txBody>
          <a:bodyPr>
            <a:normAutofit fontScale="90000"/>
          </a:bodyPr>
          <a:lstStyle/>
          <a:p>
            <a:r>
              <a:rPr lang="en-US" dirty="0"/>
              <a:t>Methodology 1 </a:t>
            </a:r>
            <a:br>
              <a:rPr lang="en-US" dirty="0"/>
            </a:br>
            <a:r>
              <a:rPr lang="en-US" dirty="0"/>
              <a:t>Data Collecting</a:t>
            </a:r>
          </a:p>
        </p:txBody>
      </p:sp>
      <p:sp>
        <p:nvSpPr>
          <p:cNvPr id="3" name="Text Placeholder 2">
            <a:extLst>
              <a:ext uri="{FF2B5EF4-FFF2-40B4-BE49-F238E27FC236}">
                <a16:creationId xmlns:a16="http://schemas.microsoft.com/office/drawing/2014/main" id="{EE0CC68A-8FCE-5F3D-88E0-48DBA893F670}"/>
              </a:ext>
            </a:extLst>
          </p:cNvPr>
          <p:cNvSpPr>
            <a:spLocks noGrp="1"/>
          </p:cNvSpPr>
          <p:nvPr>
            <p:ph type="body" idx="1"/>
          </p:nvPr>
        </p:nvSpPr>
        <p:spPr>
          <a:xfrm>
            <a:off x="685799" y="1693522"/>
            <a:ext cx="10131428" cy="4796925"/>
          </a:xfrm>
        </p:spPr>
        <p:txBody>
          <a:bodyPr/>
          <a:lstStyle/>
          <a:p>
            <a:r>
              <a:rPr lang="en-US" dirty="0"/>
              <a:t>Flowchart of steps taken in data collection using Web Scraping</a:t>
            </a:r>
          </a:p>
        </p:txBody>
      </p:sp>
      <p:sp>
        <p:nvSpPr>
          <p:cNvPr id="7" name="TextBox 6">
            <a:extLst>
              <a:ext uri="{FF2B5EF4-FFF2-40B4-BE49-F238E27FC236}">
                <a16:creationId xmlns:a16="http://schemas.microsoft.com/office/drawing/2014/main" id="{A502E94D-DA77-762C-76D6-0C78F4C24A25}"/>
              </a:ext>
            </a:extLst>
          </p:cNvPr>
          <p:cNvSpPr txBox="1"/>
          <p:nvPr/>
        </p:nvSpPr>
        <p:spPr>
          <a:xfrm>
            <a:off x="935182" y="5309755"/>
            <a:ext cx="2223301" cy="646331"/>
          </a:xfrm>
          <a:prstGeom prst="rect">
            <a:avLst/>
          </a:prstGeom>
          <a:noFill/>
        </p:spPr>
        <p:txBody>
          <a:bodyPr wrap="none" rtlCol="0">
            <a:spAutoFit/>
          </a:bodyPr>
          <a:lstStyle/>
          <a:p>
            <a:r>
              <a:rPr lang="en-US" dirty="0" err="1"/>
              <a:t>Github</a:t>
            </a:r>
            <a:r>
              <a:rPr lang="en-US" dirty="0"/>
              <a:t>: </a:t>
            </a:r>
            <a:r>
              <a:rPr lang="en-US" dirty="0">
                <a:hlinkClick r:id="rId2"/>
              </a:rPr>
              <a:t>Web Scraping</a:t>
            </a:r>
            <a:endParaRPr lang="en-US" dirty="0"/>
          </a:p>
          <a:p>
            <a:endParaRPr lang="en-US" dirty="0"/>
          </a:p>
        </p:txBody>
      </p:sp>
      <p:graphicFrame>
        <p:nvGraphicFramePr>
          <p:cNvPr id="4" name="Diagram 3">
            <a:extLst>
              <a:ext uri="{FF2B5EF4-FFF2-40B4-BE49-F238E27FC236}">
                <a16:creationId xmlns:a16="http://schemas.microsoft.com/office/drawing/2014/main" id="{8CE2FFDF-B988-AFB8-F940-B427F22AAC89}"/>
              </a:ext>
            </a:extLst>
          </p:cNvPr>
          <p:cNvGraphicFramePr/>
          <p:nvPr>
            <p:extLst>
              <p:ext uri="{D42A27DB-BD31-4B8C-83A1-F6EECF244321}">
                <p14:modId xmlns:p14="http://schemas.microsoft.com/office/powerpoint/2010/main" val="971882161"/>
              </p:ext>
            </p:extLst>
          </p:nvPr>
        </p:nvGraphicFramePr>
        <p:xfrm>
          <a:off x="935181" y="1547558"/>
          <a:ext cx="8811491" cy="5088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9456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C36FF-956B-B287-C8BF-28D0256432FB}"/>
              </a:ext>
            </a:extLst>
          </p:cNvPr>
          <p:cNvSpPr>
            <a:spLocks noGrp="1"/>
          </p:cNvSpPr>
          <p:nvPr>
            <p:ph type="title"/>
          </p:nvPr>
        </p:nvSpPr>
        <p:spPr>
          <a:xfrm>
            <a:off x="685799" y="161970"/>
            <a:ext cx="10131427" cy="1468800"/>
          </a:xfrm>
        </p:spPr>
        <p:txBody>
          <a:bodyPr>
            <a:normAutofit/>
          </a:bodyPr>
          <a:lstStyle/>
          <a:p>
            <a:r>
              <a:rPr lang="en-US" dirty="0"/>
              <a:t>Methodology 1</a:t>
            </a:r>
            <a:br>
              <a:rPr lang="en-US" dirty="0"/>
            </a:br>
            <a:r>
              <a:rPr lang="en-US" dirty="0"/>
              <a:t>Wrangling</a:t>
            </a:r>
          </a:p>
        </p:txBody>
      </p:sp>
      <p:sp>
        <p:nvSpPr>
          <p:cNvPr id="3" name="Text Placeholder 2">
            <a:extLst>
              <a:ext uri="{FF2B5EF4-FFF2-40B4-BE49-F238E27FC236}">
                <a16:creationId xmlns:a16="http://schemas.microsoft.com/office/drawing/2014/main" id="{58DDAD63-222B-3A95-410C-787156290D19}"/>
              </a:ext>
            </a:extLst>
          </p:cNvPr>
          <p:cNvSpPr>
            <a:spLocks noGrp="1"/>
          </p:cNvSpPr>
          <p:nvPr>
            <p:ph type="body" idx="1"/>
          </p:nvPr>
        </p:nvSpPr>
        <p:spPr>
          <a:xfrm>
            <a:off x="685799" y="1630770"/>
            <a:ext cx="10131428" cy="4931395"/>
          </a:xfrm>
        </p:spPr>
        <p:txBody>
          <a:bodyPr/>
          <a:lstStyle/>
          <a:p>
            <a:r>
              <a:rPr lang="en-US" dirty="0"/>
              <a:t>Wrangling and Formatting</a:t>
            </a:r>
          </a:p>
          <a:p>
            <a:endParaRPr lang="en-US" dirty="0"/>
          </a:p>
        </p:txBody>
      </p:sp>
      <p:sp>
        <p:nvSpPr>
          <p:cNvPr id="8" name="TextBox 7">
            <a:extLst>
              <a:ext uri="{FF2B5EF4-FFF2-40B4-BE49-F238E27FC236}">
                <a16:creationId xmlns:a16="http://schemas.microsoft.com/office/drawing/2014/main" id="{01AF700B-EEEB-88F5-F844-2C78E46FD846}"/>
              </a:ext>
            </a:extLst>
          </p:cNvPr>
          <p:cNvSpPr txBox="1"/>
          <p:nvPr/>
        </p:nvSpPr>
        <p:spPr>
          <a:xfrm>
            <a:off x="1207587" y="4716493"/>
            <a:ext cx="2381999" cy="369332"/>
          </a:xfrm>
          <a:prstGeom prst="rect">
            <a:avLst/>
          </a:prstGeom>
          <a:noFill/>
        </p:spPr>
        <p:txBody>
          <a:bodyPr wrap="none" rtlCol="0">
            <a:spAutoFit/>
          </a:bodyPr>
          <a:lstStyle/>
          <a:p>
            <a:r>
              <a:rPr lang="en-US" dirty="0" err="1"/>
              <a:t>Github</a:t>
            </a:r>
            <a:r>
              <a:rPr lang="en-US" dirty="0"/>
              <a:t>: </a:t>
            </a:r>
            <a:r>
              <a:rPr lang="en-US" dirty="0">
                <a:hlinkClick r:id="rId2"/>
              </a:rPr>
              <a:t>Data Wrangling</a:t>
            </a:r>
            <a:endParaRPr lang="en-US" dirty="0"/>
          </a:p>
        </p:txBody>
      </p:sp>
      <p:graphicFrame>
        <p:nvGraphicFramePr>
          <p:cNvPr id="12" name="Diagram 11">
            <a:extLst>
              <a:ext uri="{FF2B5EF4-FFF2-40B4-BE49-F238E27FC236}">
                <a16:creationId xmlns:a16="http://schemas.microsoft.com/office/drawing/2014/main" id="{E2F0B187-3F56-0C42-753B-30DD62E6AB24}"/>
              </a:ext>
            </a:extLst>
          </p:cNvPr>
          <p:cNvGraphicFramePr/>
          <p:nvPr>
            <p:extLst>
              <p:ext uri="{D42A27DB-BD31-4B8C-83A1-F6EECF244321}">
                <p14:modId xmlns:p14="http://schemas.microsoft.com/office/powerpoint/2010/main" val="423070825"/>
              </p:ext>
            </p:extLst>
          </p:nvPr>
        </p:nvGraphicFramePr>
        <p:xfrm>
          <a:off x="800098" y="1630770"/>
          <a:ext cx="9294091" cy="46524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81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1610-D704-A5E1-22E5-DB8C341EB9EB}"/>
              </a:ext>
            </a:extLst>
          </p:cNvPr>
          <p:cNvSpPr>
            <a:spLocks noGrp="1"/>
          </p:cNvSpPr>
          <p:nvPr>
            <p:ph type="title"/>
          </p:nvPr>
        </p:nvSpPr>
        <p:spPr>
          <a:xfrm>
            <a:off x="757518" y="135076"/>
            <a:ext cx="10131427" cy="1200665"/>
          </a:xfrm>
        </p:spPr>
        <p:txBody>
          <a:bodyPr>
            <a:normAutofit/>
          </a:bodyPr>
          <a:lstStyle/>
          <a:p>
            <a:r>
              <a:rPr lang="en-US" sz="3600" dirty="0"/>
              <a:t>Methodology 2</a:t>
            </a:r>
            <a:br>
              <a:rPr lang="en-US" sz="3600" dirty="0"/>
            </a:br>
            <a:r>
              <a:rPr lang="en-US" sz="3600" dirty="0"/>
              <a:t>Exploratory Data Analysis (EDA)</a:t>
            </a:r>
          </a:p>
        </p:txBody>
      </p:sp>
      <p:sp>
        <p:nvSpPr>
          <p:cNvPr id="3" name="Text Placeholder 2">
            <a:extLst>
              <a:ext uri="{FF2B5EF4-FFF2-40B4-BE49-F238E27FC236}">
                <a16:creationId xmlns:a16="http://schemas.microsoft.com/office/drawing/2014/main" id="{39921D55-70D8-6CF9-B9E0-EFE5EA413A54}"/>
              </a:ext>
            </a:extLst>
          </p:cNvPr>
          <p:cNvSpPr>
            <a:spLocks noGrp="1"/>
          </p:cNvSpPr>
          <p:nvPr>
            <p:ph type="body" idx="1"/>
          </p:nvPr>
        </p:nvSpPr>
        <p:spPr>
          <a:xfrm>
            <a:off x="685799" y="1335741"/>
            <a:ext cx="10131428" cy="5199530"/>
          </a:xfrm>
        </p:spPr>
        <p:txBody>
          <a:bodyPr>
            <a:normAutofit/>
          </a:bodyPr>
          <a:lstStyle/>
          <a:p>
            <a:r>
              <a:rPr lang="en-US" sz="2200" dirty="0"/>
              <a:t>Python Libraries</a:t>
            </a:r>
          </a:p>
          <a:p>
            <a:pPr marL="342900" indent="-342900">
              <a:buFont typeface="Wingdings" panose="05000000000000000000" pitchFamily="2" charset="2"/>
              <a:buChar char="v"/>
            </a:pPr>
            <a:r>
              <a:rPr lang="en-US" sz="1900" dirty="0"/>
              <a:t>Pandas and NumPy</a:t>
            </a:r>
          </a:p>
          <a:p>
            <a:pPr lvl="1"/>
            <a:r>
              <a:rPr lang="en-US" sz="1500" dirty="0"/>
              <a:t>Functions from the pandas and NumPy libraries are used to plot charts to determine relationships between variables:</a:t>
            </a:r>
          </a:p>
          <a:p>
            <a:pPr lvl="2"/>
            <a:r>
              <a:rPr lang="en-US" sz="1500" dirty="0"/>
              <a:t>The number of launches on each launch site</a:t>
            </a:r>
          </a:p>
          <a:p>
            <a:pPr lvl="2"/>
            <a:r>
              <a:rPr lang="en-US" sz="1500" dirty="0"/>
              <a:t>The number and occurrence of each orbit</a:t>
            </a:r>
          </a:p>
          <a:p>
            <a:pPr lvl="2"/>
            <a:r>
              <a:rPr lang="en-US" sz="1500" dirty="0"/>
              <a:t>The number and occurrence of each mission outcome</a:t>
            </a:r>
          </a:p>
          <a:p>
            <a:pPr marL="342900" indent="-342900">
              <a:buFont typeface="Wingdings" panose="05000000000000000000" pitchFamily="2" charset="2"/>
              <a:buChar char="v"/>
            </a:pPr>
            <a:r>
              <a:rPr lang="en-US" sz="1900" dirty="0"/>
              <a:t>Matplotlib and Seaborn</a:t>
            </a:r>
          </a:p>
          <a:p>
            <a:pPr lvl="1"/>
            <a:r>
              <a:rPr lang="en-US" sz="1400" dirty="0"/>
              <a:t>Functions from the Matplotlib and Seaborn libraries are used to visualize the findings with scatterplots, bar charts, and line charts.</a:t>
            </a:r>
          </a:p>
          <a:p>
            <a:pPr lvl="1"/>
            <a:r>
              <a:rPr lang="en-US" sz="1400" dirty="0"/>
              <a:t>The plots and charts are used to understand more about the relationships between several features, such as:</a:t>
            </a:r>
          </a:p>
          <a:p>
            <a:pPr lvl="2"/>
            <a:r>
              <a:rPr lang="en-US" sz="1400" dirty="0"/>
              <a:t>The relationship between flight number and launch site</a:t>
            </a:r>
          </a:p>
          <a:p>
            <a:pPr lvl="2"/>
            <a:r>
              <a:rPr lang="en-US" sz="1400" dirty="0"/>
              <a:t>The relationship between payload mass and launch site</a:t>
            </a:r>
          </a:p>
          <a:p>
            <a:pPr lvl="2"/>
            <a:r>
              <a:rPr lang="en-US" sz="1400" dirty="0"/>
              <a:t>The relationship between success rate and orbit type</a:t>
            </a:r>
          </a:p>
          <a:p>
            <a:endParaRPr lang="en-US" dirty="0"/>
          </a:p>
        </p:txBody>
      </p:sp>
      <p:sp>
        <p:nvSpPr>
          <p:cNvPr id="4" name="TextBox 3">
            <a:extLst>
              <a:ext uri="{FF2B5EF4-FFF2-40B4-BE49-F238E27FC236}">
                <a16:creationId xmlns:a16="http://schemas.microsoft.com/office/drawing/2014/main" id="{384F3F35-5B3F-1704-D503-C96BE0BB2E69}"/>
              </a:ext>
            </a:extLst>
          </p:cNvPr>
          <p:cNvSpPr txBox="1"/>
          <p:nvPr/>
        </p:nvSpPr>
        <p:spPr>
          <a:xfrm>
            <a:off x="4679576" y="6033247"/>
            <a:ext cx="2560573" cy="369332"/>
          </a:xfrm>
          <a:prstGeom prst="rect">
            <a:avLst/>
          </a:prstGeom>
          <a:noFill/>
        </p:spPr>
        <p:txBody>
          <a:bodyPr wrap="none" rtlCol="0">
            <a:spAutoFit/>
          </a:bodyPr>
          <a:lstStyle/>
          <a:p>
            <a:r>
              <a:rPr lang="en-US" dirty="0" err="1"/>
              <a:t>Github</a:t>
            </a:r>
            <a:r>
              <a:rPr lang="en-US" dirty="0"/>
              <a:t>: </a:t>
            </a:r>
            <a:r>
              <a:rPr lang="en-US" dirty="0">
                <a:hlinkClick r:id="rId2"/>
              </a:rPr>
              <a:t>EDA Visualization</a:t>
            </a:r>
            <a:endParaRPr lang="en-US" dirty="0"/>
          </a:p>
        </p:txBody>
      </p:sp>
    </p:spTree>
    <p:extLst>
      <p:ext uri="{BB962C8B-B14F-4D97-AF65-F5344CB8AC3E}">
        <p14:creationId xmlns:p14="http://schemas.microsoft.com/office/powerpoint/2010/main" val="2232614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11B5A-58EA-DABF-585C-A13CC95FD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61C19-7247-EC67-ECE8-04C01CFE6ED4}"/>
              </a:ext>
            </a:extLst>
          </p:cNvPr>
          <p:cNvSpPr>
            <a:spLocks noGrp="1"/>
          </p:cNvSpPr>
          <p:nvPr>
            <p:ph type="title"/>
          </p:nvPr>
        </p:nvSpPr>
        <p:spPr>
          <a:xfrm>
            <a:off x="757518" y="135076"/>
            <a:ext cx="10131427" cy="1048265"/>
          </a:xfrm>
        </p:spPr>
        <p:txBody>
          <a:bodyPr>
            <a:noAutofit/>
          </a:bodyPr>
          <a:lstStyle/>
          <a:p>
            <a:r>
              <a:rPr lang="en-US" sz="3600" dirty="0"/>
              <a:t>Methodology 2</a:t>
            </a:r>
            <a:br>
              <a:rPr lang="en-US" sz="3600" dirty="0"/>
            </a:br>
            <a:r>
              <a:rPr lang="en-US" sz="3600" dirty="0"/>
              <a:t>Exploratory Data Analysis (EDA)</a:t>
            </a:r>
          </a:p>
        </p:txBody>
      </p:sp>
      <p:sp>
        <p:nvSpPr>
          <p:cNvPr id="3" name="Text Placeholder 2">
            <a:extLst>
              <a:ext uri="{FF2B5EF4-FFF2-40B4-BE49-F238E27FC236}">
                <a16:creationId xmlns:a16="http://schemas.microsoft.com/office/drawing/2014/main" id="{57E2D27D-9EF7-5DB0-B330-61F908BD52AF}"/>
              </a:ext>
            </a:extLst>
          </p:cNvPr>
          <p:cNvSpPr>
            <a:spLocks noGrp="1"/>
          </p:cNvSpPr>
          <p:nvPr>
            <p:ph type="body" idx="1"/>
          </p:nvPr>
        </p:nvSpPr>
        <p:spPr>
          <a:xfrm>
            <a:off x="685799" y="1102660"/>
            <a:ext cx="10131428" cy="5620264"/>
          </a:xfrm>
        </p:spPr>
        <p:txBody>
          <a:bodyPr>
            <a:normAutofit fontScale="92500"/>
          </a:bodyPr>
          <a:lstStyle/>
          <a:p>
            <a:r>
              <a:rPr lang="en-US" sz="2400" dirty="0"/>
              <a:t>Python Libraries</a:t>
            </a:r>
          </a:p>
          <a:p>
            <a:pPr marL="342900" indent="-342900">
              <a:buFont typeface="Wingdings" panose="05000000000000000000" pitchFamily="2" charset="2"/>
              <a:buChar char="v"/>
            </a:pPr>
            <a:r>
              <a:rPr lang="en-US" sz="2200" dirty="0"/>
              <a:t>FOLIUM</a:t>
            </a:r>
          </a:p>
          <a:p>
            <a:pPr lvl="1"/>
            <a:r>
              <a:rPr lang="en-US" sz="1900" dirty="0"/>
              <a:t>Functions from the Folium libraries are used to visualize the data through interactive maps, including:</a:t>
            </a:r>
          </a:p>
          <a:p>
            <a:pPr lvl="1"/>
            <a:r>
              <a:rPr lang="en-US" sz="1900" dirty="0"/>
              <a:t> Mark all launch sites on a map</a:t>
            </a:r>
          </a:p>
          <a:p>
            <a:pPr lvl="1"/>
            <a:r>
              <a:rPr lang="en-US" sz="1900" dirty="0"/>
              <a:t> Successful and failed launches for each site</a:t>
            </a:r>
          </a:p>
          <a:p>
            <a:pPr lvl="1"/>
            <a:r>
              <a:rPr lang="en-US" sz="1900" dirty="0"/>
              <a:t> Distances between a launch site and locations as the nearest city, railway, or highway</a:t>
            </a:r>
          </a:p>
          <a:p>
            <a:pPr lvl="1" algn="ctr"/>
            <a:r>
              <a:rPr lang="en-US" sz="1700" dirty="0" err="1"/>
              <a:t>Github</a:t>
            </a:r>
            <a:r>
              <a:rPr lang="en-US" sz="1700" dirty="0"/>
              <a:t>: </a:t>
            </a:r>
            <a:r>
              <a:rPr lang="en-US" sz="1700" dirty="0">
                <a:hlinkClick r:id="rId2"/>
              </a:rPr>
              <a:t>Site Location Folium</a:t>
            </a:r>
            <a:endParaRPr lang="en-US" sz="1700" dirty="0"/>
          </a:p>
          <a:p>
            <a:pPr marL="342900" indent="-342900">
              <a:buFont typeface="Wingdings" panose="05000000000000000000" pitchFamily="2" charset="2"/>
              <a:buChar char="v"/>
            </a:pPr>
            <a:r>
              <a:rPr lang="en-US" sz="2200" dirty="0"/>
              <a:t>Dash</a:t>
            </a:r>
          </a:p>
          <a:p>
            <a:pPr lvl="1"/>
            <a:r>
              <a:rPr lang="en-US" sz="1900" dirty="0"/>
              <a:t>Functions from Dash are used to generate an interactive site with input toggled through a dropdown menu and a range slider</a:t>
            </a:r>
          </a:p>
          <a:p>
            <a:pPr lvl="1"/>
            <a:r>
              <a:rPr lang="en-US" sz="1900" dirty="0"/>
              <a:t>Using a pie chart and a scatterplot, the interactive site shows:</a:t>
            </a:r>
          </a:p>
          <a:p>
            <a:pPr lvl="2"/>
            <a:r>
              <a:rPr lang="en-US" sz="1700" dirty="0"/>
              <a:t>The total success launches from each launch site</a:t>
            </a:r>
          </a:p>
          <a:p>
            <a:pPr lvl="2"/>
            <a:r>
              <a:rPr lang="en-US" sz="1700" dirty="0"/>
              <a:t>The correlation between payload mass and mission outcome (success or failure) for each launch site</a:t>
            </a:r>
          </a:p>
          <a:p>
            <a:pPr lvl="2" algn="ctr"/>
            <a:r>
              <a:rPr lang="en-US" sz="1800" dirty="0" err="1"/>
              <a:t>Github</a:t>
            </a:r>
            <a:r>
              <a:rPr lang="en-US" sz="1800" dirty="0"/>
              <a:t>: </a:t>
            </a:r>
            <a:r>
              <a:rPr lang="en-US" sz="1800" dirty="0">
                <a:hlinkClick r:id="rId3"/>
              </a:rPr>
              <a:t>Dash</a:t>
            </a:r>
            <a:endParaRPr lang="en-US" sz="2600" dirty="0"/>
          </a:p>
          <a:p>
            <a:pPr algn="ctr"/>
            <a:endParaRPr lang="en-US" dirty="0"/>
          </a:p>
        </p:txBody>
      </p:sp>
    </p:spTree>
    <p:extLst>
      <p:ext uri="{BB962C8B-B14F-4D97-AF65-F5344CB8AC3E}">
        <p14:creationId xmlns:p14="http://schemas.microsoft.com/office/powerpoint/2010/main" val="3510433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7AE2C-A4A1-FE31-0138-FA12ECC396DA}"/>
              </a:ext>
            </a:extLst>
          </p:cNvPr>
          <p:cNvSpPr>
            <a:spLocks noGrp="1"/>
          </p:cNvSpPr>
          <p:nvPr>
            <p:ph type="title"/>
          </p:nvPr>
        </p:nvSpPr>
        <p:spPr>
          <a:xfrm>
            <a:off x="479612" y="215757"/>
            <a:ext cx="10131427" cy="1111019"/>
          </a:xfrm>
        </p:spPr>
        <p:txBody>
          <a:bodyPr>
            <a:noAutofit/>
          </a:bodyPr>
          <a:lstStyle/>
          <a:p>
            <a:r>
              <a:rPr lang="en-US" sz="3600" dirty="0"/>
              <a:t>Methodology 2</a:t>
            </a:r>
            <a:br>
              <a:rPr lang="en-US" sz="3600" dirty="0"/>
            </a:br>
            <a:r>
              <a:rPr lang="en-US" sz="3600" dirty="0"/>
              <a:t>Exploratory Data Analysis (EDA)</a:t>
            </a:r>
          </a:p>
        </p:txBody>
      </p:sp>
      <p:sp>
        <p:nvSpPr>
          <p:cNvPr id="3" name="Text Placeholder 2">
            <a:extLst>
              <a:ext uri="{FF2B5EF4-FFF2-40B4-BE49-F238E27FC236}">
                <a16:creationId xmlns:a16="http://schemas.microsoft.com/office/drawing/2014/main" id="{99BC02BD-43F9-09D4-13D1-F19555BE0983}"/>
              </a:ext>
            </a:extLst>
          </p:cNvPr>
          <p:cNvSpPr>
            <a:spLocks noGrp="1"/>
          </p:cNvSpPr>
          <p:nvPr>
            <p:ph type="body" idx="1"/>
          </p:nvPr>
        </p:nvSpPr>
        <p:spPr>
          <a:xfrm>
            <a:off x="685799" y="1246094"/>
            <a:ext cx="10627660" cy="5396149"/>
          </a:xfrm>
        </p:spPr>
        <p:txBody>
          <a:bodyPr>
            <a:normAutofit fontScale="92500" lnSpcReduction="10000"/>
          </a:bodyPr>
          <a:lstStyle/>
          <a:p>
            <a:r>
              <a:rPr lang="en-US" sz="2600" dirty="0"/>
              <a:t>SQL</a:t>
            </a:r>
          </a:p>
          <a:p>
            <a:pPr lvl="1"/>
            <a:r>
              <a:rPr lang="en-US" sz="2000" dirty="0"/>
              <a:t>The data is queried using SQL to answer several questions including:</a:t>
            </a:r>
          </a:p>
          <a:p>
            <a:pPr marL="1200150" lvl="2" indent="-285750">
              <a:buFont typeface="Wingdings" panose="05000000000000000000" pitchFamily="2" charset="2"/>
              <a:buChar char="v"/>
            </a:pPr>
            <a:r>
              <a:rPr lang="en-US" dirty="0"/>
              <a:t>The names of the unique launch sites in the space mission</a:t>
            </a:r>
          </a:p>
          <a:p>
            <a:pPr marL="1200150" lvl="2" indent="-285750">
              <a:buFont typeface="Wingdings" panose="05000000000000000000" pitchFamily="2" charset="2"/>
              <a:buChar char="v"/>
            </a:pPr>
            <a:r>
              <a:rPr lang="en-US" dirty="0"/>
              <a:t>Displaying 5 records of Launch Site names that begin with CCA</a:t>
            </a:r>
          </a:p>
          <a:p>
            <a:pPr marL="1200150" lvl="2" indent="-285750">
              <a:buFont typeface="Wingdings" panose="05000000000000000000" pitchFamily="2" charset="2"/>
              <a:buChar char="v"/>
            </a:pPr>
            <a:r>
              <a:rPr lang="en-US" dirty="0"/>
              <a:t>The total payload mass carried by boosters launched by NASA (CRS)</a:t>
            </a:r>
          </a:p>
          <a:p>
            <a:pPr marL="1200150" lvl="2" indent="-285750">
              <a:buFont typeface="Wingdings" panose="05000000000000000000" pitchFamily="2" charset="2"/>
              <a:buChar char="v"/>
            </a:pPr>
            <a:r>
              <a:rPr lang="en-US" dirty="0"/>
              <a:t>The average payload mass carried by booster version F9 v1.1</a:t>
            </a:r>
          </a:p>
          <a:p>
            <a:pPr marL="1200150" lvl="2" indent="-285750">
              <a:buFont typeface="Wingdings" panose="05000000000000000000" pitchFamily="2" charset="2"/>
              <a:buChar char="v"/>
            </a:pPr>
            <a:r>
              <a:rPr lang="en-US" dirty="0"/>
              <a:t>Total number of successful and failed mission outcomes</a:t>
            </a:r>
          </a:p>
          <a:p>
            <a:pPr marL="1200150" lvl="2" indent="-285750">
              <a:buFont typeface="Wingdings" panose="05000000000000000000" pitchFamily="2" charset="2"/>
              <a:buChar char="v"/>
            </a:pPr>
            <a:r>
              <a:rPr lang="en-US" dirty="0"/>
              <a:t>Names of the booster versions which have carried the maximum payload mass</a:t>
            </a:r>
          </a:p>
          <a:p>
            <a:pPr marL="1200150" lvl="2" indent="-285750">
              <a:buFont typeface="Wingdings" panose="05000000000000000000" pitchFamily="2" charset="2"/>
              <a:buChar char="v"/>
            </a:pPr>
            <a:r>
              <a:rPr lang="en-US" dirty="0"/>
              <a:t>Date of first successful landing outcome in ground pad</a:t>
            </a:r>
          </a:p>
          <a:p>
            <a:pPr marL="1200150" lvl="2" indent="-285750">
              <a:buFont typeface="Wingdings" panose="05000000000000000000" pitchFamily="2" charset="2"/>
              <a:buChar char="v"/>
            </a:pPr>
            <a:r>
              <a:rPr lang="en-US" dirty="0"/>
              <a:t>Names of boosters which have success in drone landings with payload mass between 4000-6000</a:t>
            </a:r>
          </a:p>
          <a:p>
            <a:pPr marL="1200150" lvl="2" indent="-285750">
              <a:buFont typeface="Wingdings" panose="05000000000000000000" pitchFamily="2" charset="2"/>
              <a:buChar char="v"/>
            </a:pPr>
            <a:r>
              <a:rPr lang="en-US" dirty="0"/>
              <a:t>Count of landing outcomes between the dates 2010-06-04 and 2017-03-20</a:t>
            </a:r>
          </a:p>
          <a:p>
            <a:pPr marL="1200150" lvl="2" indent="-285750">
              <a:buFont typeface="Wingdings" panose="05000000000000000000" pitchFamily="2" charset="2"/>
              <a:buChar char="v"/>
            </a:pPr>
            <a:r>
              <a:rPr lang="en-US" dirty="0"/>
              <a:t>Failed landing outcomes in drone ship with their booster versions and launch site names in 2015</a:t>
            </a:r>
          </a:p>
          <a:p>
            <a:pPr marL="1200150" lvl="2" indent="-285750">
              <a:buFont typeface="Wingdings" panose="05000000000000000000" pitchFamily="2" charset="2"/>
              <a:buChar char="v"/>
            </a:pPr>
            <a:endParaRPr lang="en-US" sz="1800" dirty="0"/>
          </a:p>
          <a:p>
            <a:pPr lvl="2"/>
            <a:endParaRPr lang="en-US" sz="1800" dirty="0"/>
          </a:p>
          <a:p>
            <a:pPr lvl="2" algn="ctr"/>
            <a:r>
              <a:rPr lang="en-US" sz="1800" dirty="0" err="1"/>
              <a:t>Github</a:t>
            </a:r>
            <a:r>
              <a:rPr lang="en-US" sz="1800" dirty="0"/>
              <a:t>: </a:t>
            </a:r>
            <a:r>
              <a:rPr lang="en-US" sz="1800" dirty="0">
                <a:hlinkClick r:id="rId2"/>
              </a:rPr>
              <a:t>SQL</a:t>
            </a:r>
            <a:endParaRPr lang="en-US" sz="2600" dirty="0"/>
          </a:p>
          <a:p>
            <a:endParaRPr lang="en-US" dirty="0"/>
          </a:p>
        </p:txBody>
      </p:sp>
    </p:spTree>
    <p:extLst>
      <p:ext uri="{BB962C8B-B14F-4D97-AF65-F5344CB8AC3E}">
        <p14:creationId xmlns:p14="http://schemas.microsoft.com/office/powerpoint/2010/main" val="1982729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E95BC-423C-39B0-E9F5-4B873D486C90}"/>
              </a:ext>
            </a:extLst>
          </p:cNvPr>
          <p:cNvSpPr>
            <a:spLocks noGrp="1"/>
          </p:cNvSpPr>
          <p:nvPr>
            <p:ph type="title"/>
          </p:nvPr>
        </p:nvSpPr>
        <p:spPr>
          <a:xfrm>
            <a:off x="587188" y="81287"/>
            <a:ext cx="10131427" cy="1138932"/>
          </a:xfrm>
        </p:spPr>
        <p:txBody>
          <a:bodyPr>
            <a:normAutofit fontScale="90000"/>
          </a:bodyPr>
          <a:lstStyle/>
          <a:p>
            <a:r>
              <a:rPr lang="en-US" sz="3600" dirty="0"/>
              <a:t>Methodology 3</a:t>
            </a:r>
            <a:br>
              <a:rPr lang="en-US" sz="3600" dirty="0"/>
            </a:br>
            <a:r>
              <a:rPr lang="en-US" sz="3600" dirty="0"/>
              <a:t>Predictive Analysis</a:t>
            </a:r>
          </a:p>
        </p:txBody>
      </p:sp>
      <p:sp>
        <p:nvSpPr>
          <p:cNvPr id="3" name="Text Placeholder 2">
            <a:extLst>
              <a:ext uri="{FF2B5EF4-FFF2-40B4-BE49-F238E27FC236}">
                <a16:creationId xmlns:a16="http://schemas.microsoft.com/office/drawing/2014/main" id="{723178EB-C52D-B1A8-98C1-9BE8F3F0E215}"/>
              </a:ext>
            </a:extLst>
          </p:cNvPr>
          <p:cNvSpPr>
            <a:spLocks noGrp="1"/>
          </p:cNvSpPr>
          <p:nvPr>
            <p:ph type="body" idx="1"/>
          </p:nvPr>
        </p:nvSpPr>
        <p:spPr>
          <a:xfrm>
            <a:off x="685799" y="1129552"/>
            <a:ext cx="10131428" cy="5647161"/>
          </a:xfrm>
        </p:spPr>
        <p:txBody>
          <a:bodyPr>
            <a:normAutofit/>
          </a:bodyPr>
          <a:lstStyle/>
          <a:p>
            <a:r>
              <a:rPr lang="en-US" dirty="0"/>
              <a:t>Functions from the Scikit-learn library are used to create our machine learning models.</a:t>
            </a:r>
          </a:p>
          <a:p>
            <a:r>
              <a:rPr lang="en-US" sz="1900" dirty="0"/>
              <a:t>The machine learning prediction phase includes the following steps:</a:t>
            </a:r>
          </a:p>
          <a:p>
            <a:pPr lvl="1"/>
            <a:r>
              <a:rPr lang="en-US" sz="1600" dirty="0"/>
              <a:t>Standardizing the data</a:t>
            </a:r>
          </a:p>
          <a:p>
            <a:pPr lvl="1"/>
            <a:r>
              <a:rPr lang="en-US" sz="1600" dirty="0"/>
              <a:t>Splitting the data into training and test data</a:t>
            </a:r>
          </a:p>
          <a:p>
            <a:pPr lvl="1"/>
            <a:r>
              <a:rPr lang="en-US" sz="1600" dirty="0"/>
              <a:t>Creating machine learning models, which include:</a:t>
            </a:r>
          </a:p>
          <a:p>
            <a:pPr lvl="2"/>
            <a:r>
              <a:rPr lang="en-US" sz="1400" dirty="0"/>
              <a:t>Logistic regression</a:t>
            </a:r>
          </a:p>
          <a:p>
            <a:pPr lvl="2"/>
            <a:r>
              <a:rPr lang="en-US" sz="1400" dirty="0"/>
              <a:t>Support vector machine (SVM)</a:t>
            </a:r>
          </a:p>
          <a:p>
            <a:pPr lvl="2"/>
            <a:r>
              <a:rPr lang="en-US" sz="1400" dirty="0"/>
              <a:t>Decision tree</a:t>
            </a:r>
          </a:p>
          <a:p>
            <a:pPr lvl="2"/>
            <a:r>
              <a:rPr lang="en-US" sz="1400" dirty="0"/>
              <a:t>K nearest neighbors (KNN)</a:t>
            </a:r>
          </a:p>
          <a:p>
            <a:pPr lvl="1"/>
            <a:r>
              <a:rPr lang="en-US" sz="1600" dirty="0"/>
              <a:t>Fit the models on the training set </a:t>
            </a:r>
          </a:p>
          <a:p>
            <a:pPr lvl="1"/>
            <a:r>
              <a:rPr lang="en-US" sz="1600" dirty="0"/>
              <a:t>Find the best combination of hyperparameters for each model</a:t>
            </a:r>
          </a:p>
          <a:p>
            <a:pPr lvl="1"/>
            <a:r>
              <a:rPr lang="en-US" sz="1600" dirty="0"/>
              <a:t>Evaluate the models based on their accuracy scores and confusion matrix</a:t>
            </a:r>
          </a:p>
          <a:p>
            <a:pPr lvl="1"/>
            <a:endParaRPr lang="en-US" sz="1600" dirty="0"/>
          </a:p>
          <a:p>
            <a:pPr algn="ctr"/>
            <a:r>
              <a:rPr lang="en-US" sz="1400" dirty="0" err="1"/>
              <a:t>Github</a:t>
            </a:r>
            <a:r>
              <a:rPr lang="en-US" sz="1400" dirty="0"/>
              <a:t>: </a:t>
            </a:r>
            <a:r>
              <a:rPr lang="en-US" sz="1400" dirty="0">
                <a:hlinkClick r:id="rId2"/>
              </a:rPr>
              <a:t>Machine Learning Predictions</a:t>
            </a:r>
            <a:endParaRPr lang="en-US" sz="1400" dirty="0"/>
          </a:p>
        </p:txBody>
      </p:sp>
    </p:spTree>
    <p:extLst>
      <p:ext uri="{BB962C8B-B14F-4D97-AF65-F5344CB8AC3E}">
        <p14:creationId xmlns:p14="http://schemas.microsoft.com/office/powerpoint/2010/main" val="3033321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6A02-8F63-C2A3-164A-AB9F63B4E26B}"/>
              </a:ext>
            </a:extLst>
          </p:cNvPr>
          <p:cNvSpPr>
            <a:spLocks noGrp="1"/>
          </p:cNvSpPr>
          <p:nvPr>
            <p:ph type="title"/>
          </p:nvPr>
        </p:nvSpPr>
        <p:spPr>
          <a:xfrm>
            <a:off x="703730" y="2700866"/>
            <a:ext cx="10131425" cy="1456267"/>
          </a:xfrm>
        </p:spPr>
        <p:txBody>
          <a:bodyPr>
            <a:normAutofit/>
          </a:bodyPr>
          <a:lstStyle/>
          <a:p>
            <a:pPr algn="ctr"/>
            <a:r>
              <a:rPr lang="en-US" sz="6000" b="1" dirty="0"/>
              <a:t>Results</a:t>
            </a:r>
          </a:p>
        </p:txBody>
      </p:sp>
      <p:sp>
        <p:nvSpPr>
          <p:cNvPr id="3" name="TextBox 2">
            <a:extLst>
              <a:ext uri="{FF2B5EF4-FFF2-40B4-BE49-F238E27FC236}">
                <a16:creationId xmlns:a16="http://schemas.microsoft.com/office/drawing/2014/main" id="{43F8B640-1BBA-335B-8D0B-FD2D9E8FE01C}"/>
              </a:ext>
            </a:extLst>
          </p:cNvPr>
          <p:cNvSpPr txBox="1"/>
          <p:nvPr/>
        </p:nvSpPr>
        <p:spPr>
          <a:xfrm>
            <a:off x="1246095" y="4320988"/>
            <a:ext cx="9233646" cy="830997"/>
          </a:xfrm>
          <a:prstGeom prst="rect">
            <a:avLst/>
          </a:prstGeom>
          <a:noFill/>
        </p:spPr>
        <p:txBody>
          <a:bodyPr wrap="square" rtlCol="0">
            <a:spAutoFit/>
          </a:bodyPr>
          <a:lstStyle/>
          <a:p>
            <a:pPr algn="ctr"/>
            <a:r>
              <a:rPr lang="en-US" sz="2400" dirty="0"/>
              <a:t>Exploratory data analysis results</a:t>
            </a:r>
          </a:p>
          <a:p>
            <a:pPr algn="ctr"/>
            <a:r>
              <a:rPr lang="en-US" sz="2400" dirty="0"/>
              <a:t>Interactive analytics demo in screenshots</a:t>
            </a:r>
          </a:p>
        </p:txBody>
      </p:sp>
    </p:spTree>
    <p:extLst>
      <p:ext uri="{BB962C8B-B14F-4D97-AF65-F5344CB8AC3E}">
        <p14:creationId xmlns:p14="http://schemas.microsoft.com/office/powerpoint/2010/main" val="4034945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B577-8D80-635B-6029-C65B8FEF8C78}"/>
              </a:ext>
            </a:extLst>
          </p:cNvPr>
          <p:cNvSpPr>
            <a:spLocks noGrp="1"/>
          </p:cNvSpPr>
          <p:nvPr>
            <p:ph type="title"/>
          </p:nvPr>
        </p:nvSpPr>
        <p:spPr>
          <a:xfrm>
            <a:off x="596153" y="277906"/>
            <a:ext cx="10131427" cy="779121"/>
          </a:xfrm>
        </p:spPr>
        <p:txBody>
          <a:bodyPr>
            <a:normAutofit/>
          </a:bodyPr>
          <a:lstStyle/>
          <a:p>
            <a:r>
              <a:rPr lang="en-US" dirty="0"/>
              <a:t>EDA with </a:t>
            </a:r>
            <a:r>
              <a:rPr lang="en-US" sz="3600" dirty="0"/>
              <a:t>Visualization</a:t>
            </a:r>
          </a:p>
        </p:txBody>
      </p:sp>
      <p:sp>
        <p:nvSpPr>
          <p:cNvPr id="3" name="Text Placeholder 2">
            <a:extLst>
              <a:ext uri="{FF2B5EF4-FFF2-40B4-BE49-F238E27FC236}">
                <a16:creationId xmlns:a16="http://schemas.microsoft.com/office/drawing/2014/main" id="{32221BE5-651A-3114-56C2-04DB81EB35D7}"/>
              </a:ext>
            </a:extLst>
          </p:cNvPr>
          <p:cNvSpPr>
            <a:spLocks noGrp="1"/>
          </p:cNvSpPr>
          <p:nvPr>
            <p:ph type="body" idx="1"/>
          </p:nvPr>
        </p:nvSpPr>
        <p:spPr>
          <a:xfrm>
            <a:off x="685799" y="1057027"/>
            <a:ext cx="10131428" cy="5307914"/>
          </a:xfrm>
        </p:spPr>
        <p:txBody>
          <a:bodyPr/>
          <a:lstStyle/>
          <a:p>
            <a:r>
              <a:rPr lang="en-US" dirty="0"/>
              <a:t>Flight Number vs Launch Site </a:t>
            </a:r>
            <a:r>
              <a:rPr lang="en-US" sz="1200" dirty="0"/>
              <a:t>(Class 0 – Failed, Class 1 – Successful)</a:t>
            </a:r>
          </a:p>
          <a:p>
            <a:endParaRPr lang="en-US" dirty="0"/>
          </a:p>
        </p:txBody>
      </p:sp>
      <p:pic>
        <p:nvPicPr>
          <p:cNvPr id="5" name="Picture 4">
            <a:extLst>
              <a:ext uri="{FF2B5EF4-FFF2-40B4-BE49-F238E27FC236}">
                <a16:creationId xmlns:a16="http://schemas.microsoft.com/office/drawing/2014/main" id="{E063C191-FDC1-EC22-BFEA-BE307CE7225F}"/>
              </a:ext>
            </a:extLst>
          </p:cNvPr>
          <p:cNvPicPr>
            <a:picLocks noChangeAspect="1"/>
          </p:cNvPicPr>
          <p:nvPr/>
        </p:nvPicPr>
        <p:blipFill>
          <a:blip r:embed="rId2"/>
          <a:stretch>
            <a:fillRect/>
          </a:stretch>
        </p:blipFill>
        <p:spPr>
          <a:xfrm>
            <a:off x="685799" y="1475637"/>
            <a:ext cx="7804219" cy="4889304"/>
          </a:xfrm>
          <a:prstGeom prst="rect">
            <a:avLst/>
          </a:prstGeom>
        </p:spPr>
      </p:pic>
      <p:sp>
        <p:nvSpPr>
          <p:cNvPr id="6" name="TextBox 5">
            <a:extLst>
              <a:ext uri="{FF2B5EF4-FFF2-40B4-BE49-F238E27FC236}">
                <a16:creationId xmlns:a16="http://schemas.microsoft.com/office/drawing/2014/main" id="{5F50AAE8-1FF5-4C9C-25DD-C5FB84FE572A}"/>
              </a:ext>
            </a:extLst>
          </p:cNvPr>
          <p:cNvSpPr txBox="1"/>
          <p:nvPr/>
        </p:nvSpPr>
        <p:spPr>
          <a:xfrm>
            <a:off x="8490018" y="1475637"/>
            <a:ext cx="2528047" cy="4801314"/>
          </a:xfrm>
          <a:prstGeom prst="rect">
            <a:avLst/>
          </a:prstGeom>
          <a:noFill/>
        </p:spPr>
        <p:txBody>
          <a:bodyPr wrap="square" rtlCol="0">
            <a:spAutoFit/>
          </a:bodyPr>
          <a:lstStyle/>
          <a:p>
            <a:r>
              <a:rPr lang="en-US" sz="2000" dirty="0"/>
              <a:t>Explanation</a:t>
            </a:r>
          </a:p>
          <a:p>
            <a:endParaRPr lang="en-US" dirty="0"/>
          </a:p>
          <a:p>
            <a:r>
              <a:rPr lang="en-US" dirty="0"/>
              <a:t>The CCAFS SLC 40 launch site has about a half of all launches, but the VAFB SLC 4E and KSC LC 39A launch sites appear to have higher success rates</a:t>
            </a:r>
            <a:r>
              <a:rPr lang="en-US" b="1" dirty="0"/>
              <a:t>.</a:t>
            </a:r>
            <a:r>
              <a:rPr lang="en-US" dirty="0"/>
              <a:t> </a:t>
            </a:r>
          </a:p>
          <a:p>
            <a:endParaRPr lang="en-US" dirty="0"/>
          </a:p>
          <a:p>
            <a:r>
              <a:rPr lang="en-US" dirty="0"/>
              <a:t>Earliest flights failed while latest flights succeeded, leading to the conclusion that each new launch has a higher rate of success</a:t>
            </a:r>
            <a:r>
              <a:rPr lang="en-US" b="1" dirty="0"/>
              <a:t>.</a:t>
            </a:r>
            <a:endParaRPr lang="en-US" dirty="0"/>
          </a:p>
          <a:p>
            <a:endParaRPr lang="en-US" dirty="0"/>
          </a:p>
        </p:txBody>
      </p:sp>
    </p:spTree>
    <p:extLst>
      <p:ext uri="{BB962C8B-B14F-4D97-AF65-F5344CB8AC3E}">
        <p14:creationId xmlns:p14="http://schemas.microsoft.com/office/powerpoint/2010/main" val="2777883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E34BA-AF70-5AB9-D95C-8009EA06A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33AD3-59AC-5CC8-DCDC-53E445631B0C}"/>
              </a:ext>
            </a:extLst>
          </p:cNvPr>
          <p:cNvSpPr>
            <a:spLocks noGrp="1"/>
          </p:cNvSpPr>
          <p:nvPr>
            <p:ph type="title"/>
          </p:nvPr>
        </p:nvSpPr>
        <p:spPr>
          <a:xfrm>
            <a:off x="596153" y="277906"/>
            <a:ext cx="10131427" cy="779121"/>
          </a:xfrm>
        </p:spPr>
        <p:txBody>
          <a:bodyPr>
            <a:normAutofit/>
          </a:bodyPr>
          <a:lstStyle/>
          <a:p>
            <a:r>
              <a:rPr lang="en-US" dirty="0"/>
              <a:t>EDA with </a:t>
            </a:r>
            <a:r>
              <a:rPr lang="en-US" sz="3600" dirty="0"/>
              <a:t>Visualization</a:t>
            </a:r>
          </a:p>
        </p:txBody>
      </p:sp>
      <p:sp>
        <p:nvSpPr>
          <p:cNvPr id="3" name="Text Placeholder 2">
            <a:extLst>
              <a:ext uri="{FF2B5EF4-FFF2-40B4-BE49-F238E27FC236}">
                <a16:creationId xmlns:a16="http://schemas.microsoft.com/office/drawing/2014/main" id="{EB54F3F8-64E4-1ABF-AD9A-2F48D7F9BABB}"/>
              </a:ext>
            </a:extLst>
          </p:cNvPr>
          <p:cNvSpPr>
            <a:spLocks noGrp="1"/>
          </p:cNvSpPr>
          <p:nvPr>
            <p:ph type="body" idx="1"/>
          </p:nvPr>
        </p:nvSpPr>
        <p:spPr>
          <a:xfrm>
            <a:off x="685799" y="1057027"/>
            <a:ext cx="10131428" cy="5307914"/>
          </a:xfrm>
        </p:spPr>
        <p:txBody>
          <a:bodyPr/>
          <a:lstStyle/>
          <a:p>
            <a:r>
              <a:rPr lang="en-US" dirty="0"/>
              <a:t>Payload Mass vs Launch Site </a:t>
            </a:r>
            <a:r>
              <a:rPr lang="en-US" sz="1200" dirty="0"/>
              <a:t>(Class 0 – Failed, Class 1 – Successful)</a:t>
            </a:r>
          </a:p>
          <a:p>
            <a:endParaRPr lang="en-US" dirty="0"/>
          </a:p>
        </p:txBody>
      </p:sp>
      <p:sp>
        <p:nvSpPr>
          <p:cNvPr id="6" name="TextBox 5">
            <a:extLst>
              <a:ext uri="{FF2B5EF4-FFF2-40B4-BE49-F238E27FC236}">
                <a16:creationId xmlns:a16="http://schemas.microsoft.com/office/drawing/2014/main" id="{07CFCA8B-5903-5908-2427-26256899B8B4}"/>
              </a:ext>
            </a:extLst>
          </p:cNvPr>
          <p:cNvSpPr txBox="1"/>
          <p:nvPr/>
        </p:nvSpPr>
        <p:spPr>
          <a:xfrm>
            <a:off x="8490018" y="1475637"/>
            <a:ext cx="2760688" cy="4832092"/>
          </a:xfrm>
          <a:prstGeom prst="rect">
            <a:avLst/>
          </a:prstGeom>
          <a:noFill/>
        </p:spPr>
        <p:txBody>
          <a:bodyPr wrap="square" rtlCol="0">
            <a:spAutoFit/>
          </a:bodyPr>
          <a:lstStyle/>
          <a:p>
            <a:r>
              <a:rPr lang="en-US" sz="2000" dirty="0"/>
              <a:t>Explanation</a:t>
            </a:r>
          </a:p>
          <a:p>
            <a:endParaRPr lang="en-US" dirty="0"/>
          </a:p>
          <a:p>
            <a:r>
              <a:rPr lang="en-US" dirty="0"/>
              <a:t>Launch site KSC LC 39A has a 100% success rate for payload mass under 5500 kg.</a:t>
            </a:r>
          </a:p>
          <a:p>
            <a:endParaRPr lang="en-US" dirty="0"/>
          </a:p>
          <a:p>
            <a:r>
              <a:rPr lang="en-US" dirty="0"/>
              <a:t>Most of the launches with a payload mass over 7000 kg were successful.</a:t>
            </a:r>
          </a:p>
          <a:p>
            <a:endParaRPr lang="en-US" dirty="0"/>
          </a:p>
          <a:p>
            <a:r>
              <a:rPr lang="en-US" dirty="0"/>
              <a:t>At each launch site the higher the payload mass the higher the success rate.</a:t>
            </a:r>
          </a:p>
          <a:p>
            <a:endParaRPr lang="en-US" dirty="0"/>
          </a:p>
          <a:p>
            <a:endParaRPr lang="en-US" dirty="0"/>
          </a:p>
          <a:p>
            <a:endParaRPr lang="en-US" dirty="0"/>
          </a:p>
        </p:txBody>
      </p:sp>
      <p:pic>
        <p:nvPicPr>
          <p:cNvPr id="7" name="Picture 6">
            <a:extLst>
              <a:ext uri="{FF2B5EF4-FFF2-40B4-BE49-F238E27FC236}">
                <a16:creationId xmlns:a16="http://schemas.microsoft.com/office/drawing/2014/main" id="{B973FFBF-7521-3F7D-C6AB-CEDDF192B4E1}"/>
              </a:ext>
            </a:extLst>
          </p:cNvPr>
          <p:cNvPicPr>
            <a:picLocks noChangeAspect="1"/>
          </p:cNvPicPr>
          <p:nvPr/>
        </p:nvPicPr>
        <p:blipFill>
          <a:blip r:embed="rId2"/>
          <a:stretch>
            <a:fillRect/>
          </a:stretch>
        </p:blipFill>
        <p:spPr>
          <a:xfrm>
            <a:off x="755276" y="1387222"/>
            <a:ext cx="7665265" cy="4816353"/>
          </a:xfrm>
          <a:prstGeom prst="rect">
            <a:avLst/>
          </a:prstGeom>
        </p:spPr>
      </p:pic>
    </p:spTree>
    <p:extLst>
      <p:ext uri="{BB962C8B-B14F-4D97-AF65-F5344CB8AC3E}">
        <p14:creationId xmlns:p14="http://schemas.microsoft.com/office/powerpoint/2010/main" val="3946603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E891D-AAED-135E-F668-A42AB8CBD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53DD2-E7EC-34D3-63B0-62F816582C32}"/>
              </a:ext>
            </a:extLst>
          </p:cNvPr>
          <p:cNvSpPr>
            <a:spLocks noGrp="1"/>
          </p:cNvSpPr>
          <p:nvPr>
            <p:ph type="title"/>
          </p:nvPr>
        </p:nvSpPr>
        <p:spPr>
          <a:xfrm>
            <a:off x="596153" y="277906"/>
            <a:ext cx="10131427" cy="779121"/>
          </a:xfrm>
        </p:spPr>
        <p:txBody>
          <a:bodyPr>
            <a:normAutofit/>
          </a:bodyPr>
          <a:lstStyle/>
          <a:p>
            <a:r>
              <a:rPr lang="en-US" dirty="0"/>
              <a:t>EDA with </a:t>
            </a:r>
            <a:r>
              <a:rPr lang="en-US" sz="3600" dirty="0"/>
              <a:t>Visualization</a:t>
            </a:r>
          </a:p>
        </p:txBody>
      </p:sp>
      <p:sp>
        <p:nvSpPr>
          <p:cNvPr id="3" name="Text Placeholder 2">
            <a:extLst>
              <a:ext uri="{FF2B5EF4-FFF2-40B4-BE49-F238E27FC236}">
                <a16:creationId xmlns:a16="http://schemas.microsoft.com/office/drawing/2014/main" id="{EE6D90B3-BB5C-BEFE-F2BE-08A856CC2FA8}"/>
              </a:ext>
            </a:extLst>
          </p:cNvPr>
          <p:cNvSpPr>
            <a:spLocks noGrp="1"/>
          </p:cNvSpPr>
          <p:nvPr>
            <p:ph type="body" idx="1"/>
          </p:nvPr>
        </p:nvSpPr>
        <p:spPr>
          <a:xfrm>
            <a:off x="685799" y="1057027"/>
            <a:ext cx="10131428" cy="5307914"/>
          </a:xfrm>
        </p:spPr>
        <p:txBody>
          <a:bodyPr/>
          <a:lstStyle/>
          <a:p>
            <a:r>
              <a:rPr lang="en-US" dirty="0"/>
              <a:t>Success Rate vs Orbit Type </a:t>
            </a:r>
          </a:p>
        </p:txBody>
      </p:sp>
      <p:sp>
        <p:nvSpPr>
          <p:cNvPr id="6" name="TextBox 5">
            <a:extLst>
              <a:ext uri="{FF2B5EF4-FFF2-40B4-BE49-F238E27FC236}">
                <a16:creationId xmlns:a16="http://schemas.microsoft.com/office/drawing/2014/main" id="{D40A556F-903E-F044-3402-A2D3209A03C9}"/>
              </a:ext>
            </a:extLst>
          </p:cNvPr>
          <p:cNvSpPr txBox="1"/>
          <p:nvPr/>
        </p:nvSpPr>
        <p:spPr>
          <a:xfrm>
            <a:off x="5751513" y="1371883"/>
            <a:ext cx="5552981" cy="5386090"/>
          </a:xfrm>
          <a:prstGeom prst="rect">
            <a:avLst/>
          </a:prstGeom>
          <a:noFill/>
        </p:spPr>
        <p:txBody>
          <a:bodyPr wrap="square" rtlCol="0">
            <a:spAutoFit/>
          </a:bodyPr>
          <a:lstStyle/>
          <a:p>
            <a:r>
              <a:rPr lang="en-US" sz="2000" dirty="0"/>
              <a:t>Explanation</a:t>
            </a:r>
          </a:p>
          <a:p>
            <a:endParaRPr lang="en-US" dirty="0"/>
          </a:p>
          <a:p>
            <a:r>
              <a:rPr lang="en-US" dirty="0"/>
              <a:t>Orbits with 100</a:t>
            </a:r>
            <a:r>
              <a:rPr lang="en-US" b="1" dirty="0"/>
              <a:t>%</a:t>
            </a:r>
            <a:r>
              <a:rPr lang="en-US" dirty="0"/>
              <a:t> success rate </a:t>
            </a:r>
          </a:p>
          <a:p>
            <a:r>
              <a:rPr lang="en-US" sz="1600" dirty="0"/>
              <a:t>ES</a:t>
            </a:r>
            <a:r>
              <a:rPr lang="en-US" sz="1600" b="1" dirty="0"/>
              <a:t>-</a:t>
            </a:r>
            <a:r>
              <a:rPr lang="en-US" sz="1600" dirty="0"/>
              <a:t>L1 </a:t>
            </a:r>
          </a:p>
          <a:p>
            <a:r>
              <a:rPr lang="en-US" sz="1600" dirty="0"/>
              <a:t>GEO </a:t>
            </a:r>
          </a:p>
          <a:p>
            <a:r>
              <a:rPr lang="en-US" sz="1600" dirty="0"/>
              <a:t>HEO </a:t>
            </a:r>
          </a:p>
          <a:p>
            <a:r>
              <a:rPr lang="en-US" sz="1600" dirty="0"/>
              <a:t>SSO </a:t>
            </a:r>
          </a:p>
          <a:p>
            <a:endParaRPr lang="en-US" dirty="0"/>
          </a:p>
          <a:p>
            <a:r>
              <a:rPr lang="en-US" dirty="0"/>
              <a:t>Orbits with success rate between 50</a:t>
            </a:r>
            <a:r>
              <a:rPr lang="en-US" b="1" dirty="0"/>
              <a:t>%</a:t>
            </a:r>
            <a:r>
              <a:rPr lang="en-US" dirty="0"/>
              <a:t> and 85</a:t>
            </a:r>
            <a:r>
              <a:rPr lang="en-US" b="1" dirty="0"/>
              <a:t>%</a:t>
            </a:r>
          </a:p>
          <a:p>
            <a:r>
              <a:rPr lang="en-US" sz="1600" dirty="0"/>
              <a:t>GTO </a:t>
            </a:r>
          </a:p>
          <a:p>
            <a:r>
              <a:rPr lang="en-US" sz="1600" dirty="0"/>
              <a:t>ISS </a:t>
            </a:r>
          </a:p>
          <a:p>
            <a:r>
              <a:rPr lang="en-US" sz="1600" dirty="0"/>
              <a:t>LEO </a:t>
            </a:r>
          </a:p>
          <a:p>
            <a:r>
              <a:rPr lang="en-US" sz="1600" dirty="0"/>
              <a:t>MEO </a:t>
            </a:r>
          </a:p>
          <a:p>
            <a:r>
              <a:rPr lang="en-US" sz="1600" dirty="0"/>
              <a:t>PO </a:t>
            </a:r>
          </a:p>
          <a:p>
            <a:endParaRPr lang="en-US" dirty="0"/>
          </a:p>
          <a:p>
            <a:r>
              <a:rPr lang="en-US" dirty="0"/>
              <a:t>Orbits with 0</a:t>
            </a:r>
            <a:r>
              <a:rPr lang="en-US" b="1" dirty="0"/>
              <a:t>%</a:t>
            </a:r>
            <a:r>
              <a:rPr lang="en-US" dirty="0"/>
              <a:t> success rate</a:t>
            </a:r>
          </a:p>
          <a:p>
            <a:r>
              <a:rPr lang="en-US" sz="1600" dirty="0"/>
              <a:t>SO</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798682B7-C45B-9A5B-9B8A-C3AA17CC55B5}"/>
              </a:ext>
            </a:extLst>
          </p:cNvPr>
          <p:cNvPicPr>
            <a:picLocks noChangeAspect="1"/>
          </p:cNvPicPr>
          <p:nvPr/>
        </p:nvPicPr>
        <p:blipFill>
          <a:blip r:embed="rId2"/>
          <a:stretch>
            <a:fillRect/>
          </a:stretch>
        </p:blipFill>
        <p:spPr>
          <a:xfrm>
            <a:off x="736754" y="1475637"/>
            <a:ext cx="4925112" cy="4801270"/>
          </a:xfrm>
          <a:prstGeom prst="rect">
            <a:avLst/>
          </a:prstGeom>
        </p:spPr>
      </p:pic>
    </p:spTree>
    <p:extLst>
      <p:ext uri="{BB962C8B-B14F-4D97-AF65-F5344CB8AC3E}">
        <p14:creationId xmlns:p14="http://schemas.microsoft.com/office/powerpoint/2010/main" val="632396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A1567-6626-5557-E70D-EFC8A6445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6BD6F-3FE2-65D4-CC14-0B749F4489C0}"/>
              </a:ext>
            </a:extLst>
          </p:cNvPr>
          <p:cNvSpPr>
            <a:spLocks noGrp="1"/>
          </p:cNvSpPr>
          <p:nvPr>
            <p:ph type="title"/>
          </p:nvPr>
        </p:nvSpPr>
        <p:spPr>
          <a:xfrm>
            <a:off x="596153" y="277906"/>
            <a:ext cx="10131427" cy="779121"/>
          </a:xfrm>
        </p:spPr>
        <p:txBody>
          <a:bodyPr>
            <a:normAutofit/>
          </a:bodyPr>
          <a:lstStyle/>
          <a:p>
            <a:r>
              <a:rPr lang="en-US" dirty="0"/>
              <a:t>EDA with </a:t>
            </a:r>
            <a:r>
              <a:rPr lang="en-US" sz="3600" dirty="0"/>
              <a:t>Visualization</a:t>
            </a:r>
          </a:p>
        </p:txBody>
      </p:sp>
      <p:sp>
        <p:nvSpPr>
          <p:cNvPr id="3" name="Text Placeholder 2">
            <a:extLst>
              <a:ext uri="{FF2B5EF4-FFF2-40B4-BE49-F238E27FC236}">
                <a16:creationId xmlns:a16="http://schemas.microsoft.com/office/drawing/2014/main" id="{9A6D6E14-871A-65D3-CE9E-68DD0559E3A6}"/>
              </a:ext>
            </a:extLst>
          </p:cNvPr>
          <p:cNvSpPr>
            <a:spLocks noGrp="1"/>
          </p:cNvSpPr>
          <p:nvPr>
            <p:ph type="body" idx="1"/>
          </p:nvPr>
        </p:nvSpPr>
        <p:spPr>
          <a:xfrm>
            <a:off x="685799" y="1057027"/>
            <a:ext cx="10131428" cy="5307914"/>
          </a:xfrm>
        </p:spPr>
        <p:txBody>
          <a:bodyPr/>
          <a:lstStyle/>
          <a:p>
            <a:r>
              <a:rPr lang="en-US" dirty="0"/>
              <a:t>Flight Number vs Orbit Type </a:t>
            </a:r>
            <a:r>
              <a:rPr lang="en-US" sz="1200" dirty="0"/>
              <a:t>(Class 0 – Failed, Class 1 – Successful)</a:t>
            </a:r>
          </a:p>
          <a:p>
            <a:endParaRPr lang="en-US" dirty="0"/>
          </a:p>
        </p:txBody>
      </p:sp>
      <p:sp>
        <p:nvSpPr>
          <p:cNvPr id="6" name="TextBox 5">
            <a:extLst>
              <a:ext uri="{FF2B5EF4-FFF2-40B4-BE49-F238E27FC236}">
                <a16:creationId xmlns:a16="http://schemas.microsoft.com/office/drawing/2014/main" id="{5464C69A-97B2-C869-9EF8-D808165A887C}"/>
              </a:ext>
            </a:extLst>
          </p:cNvPr>
          <p:cNvSpPr txBox="1"/>
          <p:nvPr/>
        </p:nvSpPr>
        <p:spPr>
          <a:xfrm>
            <a:off x="8490018" y="1475637"/>
            <a:ext cx="2528047" cy="4001095"/>
          </a:xfrm>
          <a:prstGeom prst="rect">
            <a:avLst/>
          </a:prstGeom>
          <a:noFill/>
        </p:spPr>
        <p:txBody>
          <a:bodyPr wrap="square" rtlCol="0">
            <a:spAutoFit/>
          </a:bodyPr>
          <a:lstStyle/>
          <a:p>
            <a:r>
              <a:rPr lang="en-US" sz="2000" dirty="0"/>
              <a:t>Explanation</a:t>
            </a:r>
          </a:p>
          <a:p>
            <a:endParaRPr lang="en-US" dirty="0"/>
          </a:p>
          <a:p>
            <a:r>
              <a:rPr lang="en-US" dirty="0"/>
              <a:t>In the LEO Orbit success appears to be related to the number of flights.</a:t>
            </a:r>
          </a:p>
          <a:p>
            <a:endParaRPr lang="en-US" dirty="0"/>
          </a:p>
          <a:p>
            <a:r>
              <a:rPr lang="en-US" dirty="0"/>
              <a:t>In the GTO orbit there does not appear to be a relationship between success and the number of flights.</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22F2CC02-EDFC-CE5F-81F4-70E5F23598A2}"/>
              </a:ext>
            </a:extLst>
          </p:cNvPr>
          <p:cNvPicPr>
            <a:picLocks noChangeAspect="1"/>
          </p:cNvPicPr>
          <p:nvPr/>
        </p:nvPicPr>
        <p:blipFill>
          <a:blip r:embed="rId2"/>
          <a:stretch>
            <a:fillRect/>
          </a:stretch>
        </p:blipFill>
        <p:spPr>
          <a:xfrm>
            <a:off x="685799" y="1403716"/>
            <a:ext cx="7482168" cy="4975934"/>
          </a:xfrm>
          <a:prstGeom prst="rect">
            <a:avLst/>
          </a:prstGeom>
        </p:spPr>
      </p:pic>
    </p:spTree>
    <p:extLst>
      <p:ext uri="{BB962C8B-B14F-4D97-AF65-F5344CB8AC3E}">
        <p14:creationId xmlns:p14="http://schemas.microsoft.com/office/powerpoint/2010/main" val="1676096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336E1-CC93-49F0-1B0D-43ADED12D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37863-E683-C7A5-564F-D8EF4F9B7FD1}"/>
              </a:ext>
            </a:extLst>
          </p:cNvPr>
          <p:cNvSpPr>
            <a:spLocks noGrp="1"/>
          </p:cNvSpPr>
          <p:nvPr>
            <p:ph type="title"/>
          </p:nvPr>
        </p:nvSpPr>
        <p:spPr>
          <a:xfrm>
            <a:off x="596153" y="277906"/>
            <a:ext cx="10131427" cy="779121"/>
          </a:xfrm>
        </p:spPr>
        <p:txBody>
          <a:bodyPr>
            <a:normAutofit/>
          </a:bodyPr>
          <a:lstStyle/>
          <a:p>
            <a:r>
              <a:rPr lang="en-US" dirty="0"/>
              <a:t>EDA with </a:t>
            </a:r>
            <a:r>
              <a:rPr lang="en-US" sz="3600" dirty="0"/>
              <a:t>Visualization</a:t>
            </a:r>
          </a:p>
        </p:txBody>
      </p:sp>
      <p:sp>
        <p:nvSpPr>
          <p:cNvPr id="3" name="Text Placeholder 2">
            <a:extLst>
              <a:ext uri="{FF2B5EF4-FFF2-40B4-BE49-F238E27FC236}">
                <a16:creationId xmlns:a16="http://schemas.microsoft.com/office/drawing/2014/main" id="{AF8EAC6F-BE90-8EB0-02A4-E9139C440134}"/>
              </a:ext>
            </a:extLst>
          </p:cNvPr>
          <p:cNvSpPr>
            <a:spLocks noGrp="1"/>
          </p:cNvSpPr>
          <p:nvPr>
            <p:ph type="body" idx="1"/>
          </p:nvPr>
        </p:nvSpPr>
        <p:spPr>
          <a:xfrm>
            <a:off x="685799" y="1057027"/>
            <a:ext cx="10131428" cy="5307914"/>
          </a:xfrm>
        </p:spPr>
        <p:txBody>
          <a:bodyPr/>
          <a:lstStyle/>
          <a:p>
            <a:r>
              <a:rPr lang="en-US" dirty="0"/>
              <a:t>Payload Mass vs Orbit Type </a:t>
            </a:r>
            <a:r>
              <a:rPr lang="en-US" sz="1200" dirty="0"/>
              <a:t>(Class 0 – Failed, Class 1 – Successful)</a:t>
            </a:r>
          </a:p>
          <a:p>
            <a:endParaRPr lang="en-US" dirty="0"/>
          </a:p>
        </p:txBody>
      </p:sp>
      <p:sp>
        <p:nvSpPr>
          <p:cNvPr id="6" name="TextBox 5">
            <a:extLst>
              <a:ext uri="{FF2B5EF4-FFF2-40B4-BE49-F238E27FC236}">
                <a16:creationId xmlns:a16="http://schemas.microsoft.com/office/drawing/2014/main" id="{F99B7106-B6B1-0A6B-0577-89818BA40E6B}"/>
              </a:ext>
            </a:extLst>
          </p:cNvPr>
          <p:cNvSpPr txBox="1"/>
          <p:nvPr/>
        </p:nvSpPr>
        <p:spPr>
          <a:xfrm>
            <a:off x="8490018" y="1475637"/>
            <a:ext cx="2528047" cy="4278094"/>
          </a:xfrm>
          <a:prstGeom prst="rect">
            <a:avLst/>
          </a:prstGeom>
          <a:noFill/>
        </p:spPr>
        <p:txBody>
          <a:bodyPr wrap="square" rtlCol="0">
            <a:spAutoFit/>
          </a:bodyPr>
          <a:lstStyle/>
          <a:p>
            <a:r>
              <a:rPr lang="en-US" sz="2000" dirty="0"/>
              <a:t>Explanation</a:t>
            </a:r>
          </a:p>
          <a:p>
            <a:endParaRPr lang="en-US" dirty="0"/>
          </a:p>
          <a:p>
            <a:r>
              <a:rPr lang="en-US" dirty="0"/>
              <a:t>Heavy loads appear to be more favorable for Polar, LEO, and ISS orbits.</a:t>
            </a:r>
          </a:p>
          <a:p>
            <a:endParaRPr lang="en-US" dirty="0"/>
          </a:p>
          <a:p>
            <a:endParaRPr lang="en-US" dirty="0"/>
          </a:p>
          <a:p>
            <a:r>
              <a:rPr lang="en-US" dirty="0"/>
              <a:t>For GTO orbit it's difficult to distinguish between successful and failed landings as both outcomes are present.</a:t>
            </a:r>
          </a:p>
          <a:p>
            <a:endParaRPr lang="en-US" dirty="0"/>
          </a:p>
          <a:p>
            <a:endParaRPr lang="en-US" dirty="0"/>
          </a:p>
          <a:p>
            <a:endParaRPr lang="en-US" dirty="0"/>
          </a:p>
        </p:txBody>
      </p:sp>
      <p:pic>
        <p:nvPicPr>
          <p:cNvPr id="7" name="Picture 6">
            <a:extLst>
              <a:ext uri="{FF2B5EF4-FFF2-40B4-BE49-F238E27FC236}">
                <a16:creationId xmlns:a16="http://schemas.microsoft.com/office/drawing/2014/main" id="{BDF2AABB-4527-6422-E557-B90B004D8BD9}"/>
              </a:ext>
            </a:extLst>
          </p:cNvPr>
          <p:cNvPicPr>
            <a:picLocks noChangeAspect="1"/>
          </p:cNvPicPr>
          <p:nvPr/>
        </p:nvPicPr>
        <p:blipFill>
          <a:blip r:embed="rId2"/>
          <a:stretch>
            <a:fillRect/>
          </a:stretch>
        </p:blipFill>
        <p:spPr>
          <a:xfrm>
            <a:off x="685799" y="1475637"/>
            <a:ext cx="7274859" cy="4819151"/>
          </a:xfrm>
          <a:prstGeom prst="rect">
            <a:avLst/>
          </a:prstGeom>
        </p:spPr>
      </p:pic>
    </p:spTree>
    <p:extLst>
      <p:ext uri="{BB962C8B-B14F-4D97-AF65-F5344CB8AC3E}">
        <p14:creationId xmlns:p14="http://schemas.microsoft.com/office/powerpoint/2010/main" val="1731069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1E39-B449-5B3D-1C61-20F0CB6DA1C2}"/>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2189A653-01DD-D3D2-8C53-C81B49FC3DEF}"/>
              </a:ext>
            </a:extLst>
          </p:cNvPr>
          <p:cNvSpPr>
            <a:spLocks noGrp="1"/>
          </p:cNvSpPr>
          <p:nvPr>
            <p:ph type="body" idx="1"/>
          </p:nvPr>
        </p:nvSpPr>
        <p:spPr>
          <a:xfrm>
            <a:off x="685799" y="1039098"/>
            <a:ext cx="10131428" cy="5361702"/>
          </a:xfrm>
        </p:spPr>
        <p:txBody>
          <a:bodyPr/>
          <a:lstStyle/>
          <a:p>
            <a:r>
              <a:rPr lang="en-US" dirty="0"/>
              <a:t>Displaying the Unique Launch Sites using an SQL query</a:t>
            </a:r>
          </a:p>
          <a:p>
            <a:endParaRPr lang="en-US" dirty="0"/>
          </a:p>
        </p:txBody>
      </p:sp>
      <p:pic>
        <p:nvPicPr>
          <p:cNvPr id="5" name="Picture 4">
            <a:extLst>
              <a:ext uri="{FF2B5EF4-FFF2-40B4-BE49-F238E27FC236}">
                <a16:creationId xmlns:a16="http://schemas.microsoft.com/office/drawing/2014/main" id="{9EB91B37-1049-84E5-4698-E0AE9D9578D6}"/>
              </a:ext>
            </a:extLst>
          </p:cNvPr>
          <p:cNvPicPr>
            <a:picLocks noChangeAspect="1"/>
          </p:cNvPicPr>
          <p:nvPr/>
        </p:nvPicPr>
        <p:blipFill>
          <a:blip r:embed="rId2"/>
          <a:stretch>
            <a:fillRect/>
          </a:stretch>
        </p:blipFill>
        <p:spPr>
          <a:xfrm>
            <a:off x="4789353" y="2205262"/>
            <a:ext cx="1924319" cy="3029373"/>
          </a:xfrm>
          <a:prstGeom prst="rect">
            <a:avLst/>
          </a:prstGeom>
        </p:spPr>
      </p:pic>
    </p:spTree>
    <p:extLst>
      <p:ext uri="{BB962C8B-B14F-4D97-AF65-F5344CB8AC3E}">
        <p14:creationId xmlns:p14="http://schemas.microsoft.com/office/powerpoint/2010/main" val="2021926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594FF-33C5-7252-BF49-52B90C0C4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90F40-A17A-A6E6-27EA-D454B96E33AA}"/>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662979B2-3FA3-0FFD-8995-1459D622D019}"/>
              </a:ext>
            </a:extLst>
          </p:cNvPr>
          <p:cNvSpPr>
            <a:spLocks noGrp="1"/>
          </p:cNvSpPr>
          <p:nvPr>
            <p:ph type="body" idx="1"/>
          </p:nvPr>
        </p:nvSpPr>
        <p:spPr>
          <a:xfrm>
            <a:off x="685799" y="1039098"/>
            <a:ext cx="10131428" cy="5361702"/>
          </a:xfrm>
        </p:spPr>
        <p:txBody>
          <a:bodyPr/>
          <a:lstStyle/>
          <a:p>
            <a:r>
              <a:rPr lang="en-US" dirty="0"/>
              <a:t>Displaying 5 records of Launch Site names that begin with CCA using an SQL query</a:t>
            </a:r>
          </a:p>
          <a:p>
            <a:endParaRPr lang="en-US" dirty="0"/>
          </a:p>
        </p:txBody>
      </p:sp>
      <p:pic>
        <p:nvPicPr>
          <p:cNvPr id="6" name="Picture 5">
            <a:extLst>
              <a:ext uri="{FF2B5EF4-FFF2-40B4-BE49-F238E27FC236}">
                <a16:creationId xmlns:a16="http://schemas.microsoft.com/office/drawing/2014/main" id="{EEFA0BB7-7ACD-E46A-8526-343DDFDCC0AE}"/>
              </a:ext>
            </a:extLst>
          </p:cNvPr>
          <p:cNvPicPr>
            <a:picLocks noChangeAspect="1"/>
          </p:cNvPicPr>
          <p:nvPr/>
        </p:nvPicPr>
        <p:blipFill>
          <a:blip r:embed="rId2"/>
          <a:stretch>
            <a:fillRect/>
          </a:stretch>
        </p:blipFill>
        <p:spPr>
          <a:xfrm>
            <a:off x="685798" y="1813341"/>
            <a:ext cx="10708341" cy="3231318"/>
          </a:xfrm>
          <a:prstGeom prst="rect">
            <a:avLst/>
          </a:prstGeom>
        </p:spPr>
      </p:pic>
    </p:spTree>
    <p:extLst>
      <p:ext uri="{BB962C8B-B14F-4D97-AF65-F5344CB8AC3E}">
        <p14:creationId xmlns:p14="http://schemas.microsoft.com/office/powerpoint/2010/main" val="1998990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359B0-5885-8CE5-CC3B-A97EA23E2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A0FD3-9FE9-270F-623A-D37C514EB303}"/>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839B9D63-E008-786B-3CC5-7FA7DFDF970D}"/>
              </a:ext>
            </a:extLst>
          </p:cNvPr>
          <p:cNvSpPr>
            <a:spLocks noGrp="1"/>
          </p:cNvSpPr>
          <p:nvPr>
            <p:ph type="body" idx="1"/>
          </p:nvPr>
        </p:nvSpPr>
        <p:spPr>
          <a:xfrm>
            <a:off x="685799" y="1039098"/>
            <a:ext cx="10131428" cy="5361702"/>
          </a:xfrm>
        </p:spPr>
        <p:txBody>
          <a:bodyPr/>
          <a:lstStyle/>
          <a:p>
            <a:r>
              <a:rPr lang="en-US" dirty="0"/>
              <a:t>Displaying Total Payload Mass carried by boosters from NASA using an SQL query</a:t>
            </a:r>
          </a:p>
          <a:p>
            <a:endParaRPr lang="en-US" dirty="0"/>
          </a:p>
        </p:txBody>
      </p:sp>
      <p:pic>
        <p:nvPicPr>
          <p:cNvPr id="5" name="Picture 4">
            <a:extLst>
              <a:ext uri="{FF2B5EF4-FFF2-40B4-BE49-F238E27FC236}">
                <a16:creationId xmlns:a16="http://schemas.microsoft.com/office/drawing/2014/main" id="{DC165AF7-6DF1-3CCC-5FF0-081F99B5B8E8}"/>
              </a:ext>
            </a:extLst>
          </p:cNvPr>
          <p:cNvPicPr>
            <a:picLocks noChangeAspect="1"/>
          </p:cNvPicPr>
          <p:nvPr/>
        </p:nvPicPr>
        <p:blipFill>
          <a:blip r:embed="rId2"/>
          <a:stretch>
            <a:fillRect/>
          </a:stretch>
        </p:blipFill>
        <p:spPr>
          <a:xfrm>
            <a:off x="4300287" y="2242972"/>
            <a:ext cx="3591426" cy="2372056"/>
          </a:xfrm>
          <a:prstGeom prst="rect">
            <a:avLst/>
          </a:prstGeom>
        </p:spPr>
      </p:pic>
    </p:spTree>
    <p:extLst>
      <p:ext uri="{BB962C8B-B14F-4D97-AF65-F5344CB8AC3E}">
        <p14:creationId xmlns:p14="http://schemas.microsoft.com/office/powerpoint/2010/main" val="92595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D78EA-92D0-B40B-006C-6CB3AC145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F5457-B135-BB33-6689-A158A0ACE8E4}"/>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B39A2D77-EEBC-FC8C-2C4F-36D8FB43704D}"/>
              </a:ext>
            </a:extLst>
          </p:cNvPr>
          <p:cNvSpPr>
            <a:spLocks noGrp="1"/>
          </p:cNvSpPr>
          <p:nvPr>
            <p:ph type="body" idx="1"/>
          </p:nvPr>
        </p:nvSpPr>
        <p:spPr>
          <a:xfrm>
            <a:off x="685799" y="1039098"/>
            <a:ext cx="10131428" cy="5361702"/>
          </a:xfrm>
        </p:spPr>
        <p:txBody>
          <a:bodyPr/>
          <a:lstStyle/>
          <a:p>
            <a:r>
              <a:rPr lang="en-US" sz="1600" dirty="0"/>
              <a:t>Displaying Average Payload Mass carried by booster version F9 v1.1 from NASA using an SQL query</a:t>
            </a:r>
          </a:p>
          <a:p>
            <a:endParaRPr lang="en-US" dirty="0"/>
          </a:p>
        </p:txBody>
      </p:sp>
      <p:pic>
        <p:nvPicPr>
          <p:cNvPr id="6" name="Picture 5">
            <a:extLst>
              <a:ext uri="{FF2B5EF4-FFF2-40B4-BE49-F238E27FC236}">
                <a16:creationId xmlns:a16="http://schemas.microsoft.com/office/drawing/2014/main" id="{34C35376-2EE4-7EB4-4734-3846290D71A8}"/>
              </a:ext>
            </a:extLst>
          </p:cNvPr>
          <p:cNvPicPr>
            <a:picLocks noChangeAspect="1"/>
          </p:cNvPicPr>
          <p:nvPr/>
        </p:nvPicPr>
        <p:blipFill>
          <a:blip r:embed="rId2"/>
          <a:stretch>
            <a:fillRect/>
          </a:stretch>
        </p:blipFill>
        <p:spPr>
          <a:xfrm>
            <a:off x="4247892" y="2204866"/>
            <a:ext cx="3696216" cy="2448267"/>
          </a:xfrm>
          <a:prstGeom prst="rect">
            <a:avLst/>
          </a:prstGeom>
        </p:spPr>
      </p:pic>
    </p:spTree>
    <p:extLst>
      <p:ext uri="{BB962C8B-B14F-4D97-AF65-F5344CB8AC3E}">
        <p14:creationId xmlns:p14="http://schemas.microsoft.com/office/powerpoint/2010/main" val="1151630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D467C-1121-481C-1244-77108D6E7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354BC-568C-A690-5C48-2CDFD6713124}"/>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68B8E3D0-E669-B7E5-575C-1238791228FD}"/>
              </a:ext>
            </a:extLst>
          </p:cNvPr>
          <p:cNvSpPr>
            <a:spLocks noGrp="1"/>
          </p:cNvSpPr>
          <p:nvPr>
            <p:ph type="body" idx="1"/>
          </p:nvPr>
        </p:nvSpPr>
        <p:spPr>
          <a:xfrm>
            <a:off x="685799" y="1039098"/>
            <a:ext cx="10131428" cy="5361702"/>
          </a:xfrm>
        </p:spPr>
        <p:txBody>
          <a:bodyPr/>
          <a:lstStyle/>
          <a:p>
            <a:r>
              <a:rPr lang="en-US" sz="1600" dirty="0"/>
              <a:t>Displaying first successful ground landing date using an SQL query</a:t>
            </a:r>
          </a:p>
          <a:p>
            <a:endParaRPr lang="en-US" dirty="0"/>
          </a:p>
        </p:txBody>
      </p:sp>
      <p:pic>
        <p:nvPicPr>
          <p:cNvPr id="5" name="Picture 4">
            <a:extLst>
              <a:ext uri="{FF2B5EF4-FFF2-40B4-BE49-F238E27FC236}">
                <a16:creationId xmlns:a16="http://schemas.microsoft.com/office/drawing/2014/main" id="{F941978B-926B-EACD-73BA-B046AC09DBE7}"/>
              </a:ext>
            </a:extLst>
          </p:cNvPr>
          <p:cNvPicPr>
            <a:picLocks noChangeAspect="1"/>
          </p:cNvPicPr>
          <p:nvPr/>
        </p:nvPicPr>
        <p:blipFill>
          <a:blip r:embed="rId2"/>
          <a:stretch>
            <a:fillRect/>
          </a:stretch>
        </p:blipFill>
        <p:spPr>
          <a:xfrm>
            <a:off x="4386024" y="2185814"/>
            <a:ext cx="3419952" cy="2486372"/>
          </a:xfrm>
          <a:prstGeom prst="rect">
            <a:avLst/>
          </a:prstGeom>
        </p:spPr>
      </p:pic>
    </p:spTree>
    <p:extLst>
      <p:ext uri="{BB962C8B-B14F-4D97-AF65-F5344CB8AC3E}">
        <p14:creationId xmlns:p14="http://schemas.microsoft.com/office/powerpoint/2010/main" val="2257375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616D-70D6-A2A7-198D-F49E9BE6D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BAC8B-5618-33AF-B273-D192F6CAAC6F}"/>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1DDBF7BD-2520-2A0F-13A5-6AF6E45A8D16}"/>
              </a:ext>
            </a:extLst>
          </p:cNvPr>
          <p:cNvSpPr>
            <a:spLocks noGrp="1"/>
          </p:cNvSpPr>
          <p:nvPr>
            <p:ph type="body" idx="1"/>
          </p:nvPr>
        </p:nvSpPr>
        <p:spPr>
          <a:xfrm>
            <a:off x="685799" y="1039098"/>
            <a:ext cx="10131428" cy="5361702"/>
          </a:xfrm>
        </p:spPr>
        <p:txBody>
          <a:bodyPr/>
          <a:lstStyle/>
          <a:p>
            <a:r>
              <a:rPr lang="en-US" sz="1600" dirty="0"/>
              <a:t>Displaying Successful Drone Ship Landing with Payload between 4000 and 6000 using an SQL query</a:t>
            </a:r>
          </a:p>
          <a:p>
            <a:endParaRPr lang="en-US" dirty="0"/>
          </a:p>
        </p:txBody>
      </p:sp>
      <p:pic>
        <p:nvPicPr>
          <p:cNvPr id="6" name="Picture 5">
            <a:extLst>
              <a:ext uri="{FF2B5EF4-FFF2-40B4-BE49-F238E27FC236}">
                <a16:creationId xmlns:a16="http://schemas.microsoft.com/office/drawing/2014/main" id="{1C02B321-EDED-975D-5D91-4E7CC2B47EDB}"/>
              </a:ext>
            </a:extLst>
          </p:cNvPr>
          <p:cNvPicPr>
            <a:picLocks noChangeAspect="1"/>
          </p:cNvPicPr>
          <p:nvPr/>
        </p:nvPicPr>
        <p:blipFill>
          <a:blip r:embed="rId2"/>
          <a:stretch>
            <a:fillRect/>
          </a:stretch>
        </p:blipFill>
        <p:spPr>
          <a:xfrm>
            <a:off x="4209787" y="1652339"/>
            <a:ext cx="3772426" cy="3553321"/>
          </a:xfrm>
          <a:prstGeom prst="rect">
            <a:avLst/>
          </a:prstGeom>
        </p:spPr>
      </p:pic>
    </p:spTree>
    <p:extLst>
      <p:ext uri="{BB962C8B-B14F-4D97-AF65-F5344CB8AC3E}">
        <p14:creationId xmlns:p14="http://schemas.microsoft.com/office/powerpoint/2010/main" val="3945910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20ABC-2A8E-4F00-50DA-765D205A4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6833B-7AC9-97AF-C3AD-00E82BD27F8E}"/>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E7E8CBFC-305D-D8A7-7A59-E13C6455A9E4}"/>
              </a:ext>
            </a:extLst>
          </p:cNvPr>
          <p:cNvSpPr>
            <a:spLocks noGrp="1"/>
          </p:cNvSpPr>
          <p:nvPr>
            <p:ph type="body" idx="1"/>
          </p:nvPr>
        </p:nvSpPr>
        <p:spPr>
          <a:xfrm>
            <a:off x="685799" y="1039098"/>
            <a:ext cx="10131428" cy="5361702"/>
          </a:xfrm>
        </p:spPr>
        <p:txBody>
          <a:bodyPr/>
          <a:lstStyle/>
          <a:p>
            <a:r>
              <a:rPr lang="en-US" sz="1600" dirty="0"/>
              <a:t>Displaying total number of successful and failure mission outcomes using an SQL query</a:t>
            </a:r>
          </a:p>
          <a:p>
            <a:endParaRPr lang="en-US" dirty="0"/>
          </a:p>
        </p:txBody>
      </p:sp>
      <p:pic>
        <p:nvPicPr>
          <p:cNvPr id="5" name="Picture 4">
            <a:extLst>
              <a:ext uri="{FF2B5EF4-FFF2-40B4-BE49-F238E27FC236}">
                <a16:creationId xmlns:a16="http://schemas.microsoft.com/office/drawing/2014/main" id="{3462C9C5-16E3-DC4E-A866-E0489E18CAB5}"/>
              </a:ext>
            </a:extLst>
          </p:cNvPr>
          <p:cNvPicPr>
            <a:picLocks noChangeAspect="1"/>
          </p:cNvPicPr>
          <p:nvPr/>
        </p:nvPicPr>
        <p:blipFill>
          <a:blip r:embed="rId2"/>
          <a:stretch>
            <a:fillRect/>
          </a:stretch>
        </p:blipFill>
        <p:spPr>
          <a:xfrm>
            <a:off x="4333629" y="1623760"/>
            <a:ext cx="3524742" cy="3610479"/>
          </a:xfrm>
          <a:prstGeom prst="rect">
            <a:avLst/>
          </a:prstGeom>
        </p:spPr>
      </p:pic>
    </p:spTree>
    <p:extLst>
      <p:ext uri="{BB962C8B-B14F-4D97-AF65-F5344CB8AC3E}">
        <p14:creationId xmlns:p14="http://schemas.microsoft.com/office/powerpoint/2010/main" val="2550895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C45A8-9706-45BD-DB10-D5F21CB8C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D6E9F-1229-F711-C2EB-740CCEC36339}"/>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9FC007B0-7034-89F8-CF4B-9F104A82AB92}"/>
              </a:ext>
            </a:extLst>
          </p:cNvPr>
          <p:cNvSpPr>
            <a:spLocks noGrp="1"/>
          </p:cNvSpPr>
          <p:nvPr>
            <p:ph type="body" idx="1"/>
          </p:nvPr>
        </p:nvSpPr>
        <p:spPr>
          <a:xfrm>
            <a:off x="685799" y="1039098"/>
            <a:ext cx="10131428" cy="5361702"/>
          </a:xfrm>
        </p:spPr>
        <p:txBody>
          <a:bodyPr/>
          <a:lstStyle/>
          <a:p>
            <a:r>
              <a:rPr lang="en-US" sz="1600" dirty="0"/>
              <a:t>Displaying names of the booster which have carried the maximum payload mass using an SQL query</a:t>
            </a:r>
          </a:p>
          <a:p>
            <a:endParaRPr lang="en-US" dirty="0"/>
          </a:p>
        </p:txBody>
      </p:sp>
      <p:pic>
        <p:nvPicPr>
          <p:cNvPr id="6" name="Picture 5">
            <a:extLst>
              <a:ext uri="{FF2B5EF4-FFF2-40B4-BE49-F238E27FC236}">
                <a16:creationId xmlns:a16="http://schemas.microsoft.com/office/drawing/2014/main" id="{BA7972C3-0F5A-9C68-1D66-DBF71E150AFC}"/>
              </a:ext>
            </a:extLst>
          </p:cNvPr>
          <p:cNvPicPr>
            <a:picLocks noChangeAspect="1"/>
          </p:cNvPicPr>
          <p:nvPr/>
        </p:nvPicPr>
        <p:blipFill>
          <a:blip r:embed="rId2"/>
          <a:stretch>
            <a:fillRect/>
          </a:stretch>
        </p:blipFill>
        <p:spPr>
          <a:xfrm>
            <a:off x="4809945" y="1595718"/>
            <a:ext cx="2572109" cy="4939553"/>
          </a:xfrm>
          <a:prstGeom prst="rect">
            <a:avLst/>
          </a:prstGeom>
        </p:spPr>
      </p:pic>
    </p:spTree>
    <p:extLst>
      <p:ext uri="{BB962C8B-B14F-4D97-AF65-F5344CB8AC3E}">
        <p14:creationId xmlns:p14="http://schemas.microsoft.com/office/powerpoint/2010/main" val="174777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1E1FC-6E8F-37B3-2CFB-5041527D1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D66CB-769A-36F6-2FB6-5A32D8E3F835}"/>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1BF5245A-7FB7-6C27-A6A1-3BD62D40C340}"/>
              </a:ext>
            </a:extLst>
          </p:cNvPr>
          <p:cNvSpPr>
            <a:spLocks noGrp="1"/>
          </p:cNvSpPr>
          <p:nvPr>
            <p:ph type="body" idx="1"/>
          </p:nvPr>
        </p:nvSpPr>
        <p:spPr>
          <a:xfrm>
            <a:off x="685799" y="1039098"/>
            <a:ext cx="10131428" cy="5361702"/>
          </a:xfrm>
        </p:spPr>
        <p:txBody>
          <a:bodyPr/>
          <a:lstStyle/>
          <a:p>
            <a:r>
              <a:rPr lang="en-US" sz="1600" dirty="0"/>
              <a:t>Displaying failed landing outcomes in drone ship with their booster versions and launch site names in 2015 using an SQL query</a:t>
            </a:r>
          </a:p>
          <a:p>
            <a:endParaRPr lang="en-US" dirty="0"/>
          </a:p>
        </p:txBody>
      </p:sp>
      <p:pic>
        <p:nvPicPr>
          <p:cNvPr id="5" name="Picture 4">
            <a:extLst>
              <a:ext uri="{FF2B5EF4-FFF2-40B4-BE49-F238E27FC236}">
                <a16:creationId xmlns:a16="http://schemas.microsoft.com/office/drawing/2014/main" id="{E6DC612A-69E0-6375-492F-155955D08441}"/>
              </a:ext>
            </a:extLst>
          </p:cNvPr>
          <p:cNvPicPr>
            <a:picLocks noChangeAspect="1"/>
          </p:cNvPicPr>
          <p:nvPr/>
        </p:nvPicPr>
        <p:blipFill>
          <a:blip r:embed="rId2"/>
          <a:stretch>
            <a:fillRect/>
          </a:stretch>
        </p:blipFill>
        <p:spPr>
          <a:xfrm>
            <a:off x="3823970" y="1733313"/>
            <a:ext cx="4544059" cy="3391373"/>
          </a:xfrm>
          <a:prstGeom prst="rect">
            <a:avLst/>
          </a:prstGeom>
        </p:spPr>
      </p:pic>
    </p:spTree>
    <p:extLst>
      <p:ext uri="{BB962C8B-B14F-4D97-AF65-F5344CB8AC3E}">
        <p14:creationId xmlns:p14="http://schemas.microsoft.com/office/powerpoint/2010/main" val="1083209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FEFB2-1DA7-6CAD-0194-F306E4FCC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F7E3D-0408-5580-AC04-7D47C55A207B}"/>
              </a:ext>
            </a:extLst>
          </p:cNvPr>
          <p:cNvSpPr>
            <a:spLocks noGrp="1"/>
          </p:cNvSpPr>
          <p:nvPr>
            <p:ph type="title"/>
          </p:nvPr>
        </p:nvSpPr>
        <p:spPr>
          <a:xfrm>
            <a:off x="685800" y="322729"/>
            <a:ext cx="10131427" cy="716369"/>
          </a:xfrm>
        </p:spPr>
        <p:txBody>
          <a:bodyPr>
            <a:normAutofit/>
          </a:bodyPr>
          <a:lstStyle/>
          <a:p>
            <a:r>
              <a:rPr lang="en-US" sz="3600" dirty="0"/>
              <a:t>EDA with SQL</a:t>
            </a:r>
          </a:p>
        </p:txBody>
      </p:sp>
      <p:sp>
        <p:nvSpPr>
          <p:cNvPr id="3" name="Text Placeholder 2">
            <a:extLst>
              <a:ext uri="{FF2B5EF4-FFF2-40B4-BE49-F238E27FC236}">
                <a16:creationId xmlns:a16="http://schemas.microsoft.com/office/drawing/2014/main" id="{55111C50-A4D0-F7ED-6681-E6A6199F5242}"/>
              </a:ext>
            </a:extLst>
          </p:cNvPr>
          <p:cNvSpPr>
            <a:spLocks noGrp="1"/>
          </p:cNvSpPr>
          <p:nvPr>
            <p:ph type="body" idx="1"/>
          </p:nvPr>
        </p:nvSpPr>
        <p:spPr>
          <a:xfrm>
            <a:off x="685799" y="1039098"/>
            <a:ext cx="10131428" cy="5361702"/>
          </a:xfrm>
        </p:spPr>
        <p:txBody>
          <a:bodyPr/>
          <a:lstStyle/>
          <a:p>
            <a:r>
              <a:rPr lang="en-US" sz="1600" dirty="0"/>
              <a:t>Displaying the count of landing outcomes between the dates 2010-06-04 and 2017-03-20 in descending order using an SQL query</a:t>
            </a:r>
          </a:p>
          <a:p>
            <a:endParaRPr lang="en-US" dirty="0"/>
          </a:p>
        </p:txBody>
      </p:sp>
      <p:pic>
        <p:nvPicPr>
          <p:cNvPr id="8" name="Picture 7">
            <a:extLst>
              <a:ext uri="{FF2B5EF4-FFF2-40B4-BE49-F238E27FC236}">
                <a16:creationId xmlns:a16="http://schemas.microsoft.com/office/drawing/2014/main" id="{9EED0728-0236-0750-1162-C4811373CA22}"/>
              </a:ext>
            </a:extLst>
          </p:cNvPr>
          <p:cNvPicPr>
            <a:picLocks noChangeAspect="1"/>
          </p:cNvPicPr>
          <p:nvPr/>
        </p:nvPicPr>
        <p:blipFill>
          <a:blip r:embed="rId2"/>
          <a:stretch>
            <a:fillRect/>
          </a:stretch>
        </p:blipFill>
        <p:spPr>
          <a:xfrm>
            <a:off x="4069976" y="1755467"/>
            <a:ext cx="3058052" cy="4615927"/>
          </a:xfrm>
          <a:prstGeom prst="rect">
            <a:avLst/>
          </a:prstGeom>
        </p:spPr>
      </p:pic>
    </p:spTree>
    <p:extLst>
      <p:ext uri="{BB962C8B-B14F-4D97-AF65-F5344CB8AC3E}">
        <p14:creationId xmlns:p14="http://schemas.microsoft.com/office/powerpoint/2010/main" val="2455095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98CA-B56B-F6B8-00C5-FE0D6CF152CD}"/>
              </a:ext>
            </a:extLst>
          </p:cNvPr>
          <p:cNvSpPr>
            <a:spLocks noGrp="1"/>
          </p:cNvSpPr>
          <p:nvPr>
            <p:ph type="title"/>
          </p:nvPr>
        </p:nvSpPr>
        <p:spPr>
          <a:xfrm>
            <a:off x="425824" y="108181"/>
            <a:ext cx="10131427" cy="465560"/>
          </a:xfrm>
        </p:spPr>
        <p:txBody>
          <a:bodyPr>
            <a:normAutofit fontScale="90000"/>
          </a:bodyPr>
          <a:lstStyle/>
          <a:p>
            <a:r>
              <a:rPr lang="en-US" sz="2800" dirty="0"/>
              <a:t>All launch location markers on global map with Folium</a:t>
            </a:r>
          </a:p>
        </p:txBody>
      </p:sp>
      <p:sp>
        <p:nvSpPr>
          <p:cNvPr id="3" name="Text Placeholder 2">
            <a:extLst>
              <a:ext uri="{FF2B5EF4-FFF2-40B4-BE49-F238E27FC236}">
                <a16:creationId xmlns:a16="http://schemas.microsoft.com/office/drawing/2014/main" id="{98943495-C6C0-90D2-D341-F64325BC35A2}"/>
              </a:ext>
            </a:extLst>
          </p:cNvPr>
          <p:cNvSpPr>
            <a:spLocks noGrp="1"/>
          </p:cNvSpPr>
          <p:nvPr>
            <p:ph type="body" idx="1"/>
          </p:nvPr>
        </p:nvSpPr>
        <p:spPr>
          <a:xfrm>
            <a:off x="425824" y="1056089"/>
            <a:ext cx="3966882" cy="5126793"/>
          </a:xfrm>
        </p:spPr>
        <p:txBody>
          <a:bodyPr wrap="square">
            <a:normAutofit/>
          </a:bodyPr>
          <a:lstStyle/>
          <a:p>
            <a:r>
              <a:rPr lang="en-US" sz="1600" dirty="0"/>
              <a:t>Most of the launch sites are in proximity to the Equator to take advantage of the increased rotational velocity and low-inclination and geostationary orbits. </a:t>
            </a:r>
          </a:p>
          <a:p>
            <a:endParaRPr lang="en-US" sz="1600" dirty="0"/>
          </a:p>
          <a:p>
            <a:r>
              <a:rPr lang="en-US" sz="1600" dirty="0"/>
              <a:t>They are also more concentrated along coastlines to minimize risk and simplify recovery of hardware. Proximity to the ocean lets recovered boosters return to nearby drone ships or landing zones quickly.</a:t>
            </a:r>
          </a:p>
          <a:p>
            <a:endParaRPr lang="en-US" dirty="0"/>
          </a:p>
        </p:txBody>
      </p:sp>
      <p:pic>
        <p:nvPicPr>
          <p:cNvPr id="5" name="Picture 4">
            <a:extLst>
              <a:ext uri="{FF2B5EF4-FFF2-40B4-BE49-F238E27FC236}">
                <a16:creationId xmlns:a16="http://schemas.microsoft.com/office/drawing/2014/main" id="{6EDB33CE-F53D-0CBD-A000-8A61E2BB8B60}"/>
              </a:ext>
            </a:extLst>
          </p:cNvPr>
          <p:cNvPicPr>
            <a:picLocks noChangeAspect="1"/>
          </p:cNvPicPr>
          <p:nvPr/>
        </p:nvPicPr>
        <p:blipFill>
          <a:blip r:embed="rId2"/>
          <a:stretch>
            <a:fillRect/>
          </a:stretch>
        </p:blipFill>
        <p:spPr>
          <a:xfrm>
            <a:off x="4392706" y="1056089"/>
            <a:ext cx="7185768" cy="3906193"/>
          </a:xfrm>
          <a:prstGeom prst="rect">
            <a:avLst/>
          </a:prstGeom>
        </p:spPr>
      </p:pic>
    </p:spTree>
    <p:extLst>
      <p:ext uri="{BB962C8B-B14F-4D97-AF65-F5344CB8AC3E}">
        <p14:creationId xmlns:p14="http://schemas.microsoft.com/office/powerpoint/2010/main" val="2017400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4DD4A-3109-DF11-FCEC-C627E933C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DFC07-9CA1-4F13-34BA-8353A35731EC}"/>
              </a:ext>
            </a:extLst>
          </p:cNvPr>
          <p:cNvSpPr>
            <a:spLocks noGrp="1"/>
          </p:cNvSpPr>
          <p:nvPr>
            <p:ph type="title"/>
          </p:nvPr>
        </p:nvSpPr>
        <p:spPr>
          <a:xfrm>
            <a:off x="425824" y="108181"/>
            <a:ext cx="10131427" cy="465560"/>
          </a:xfrm>
        </p:spPr>
        <p:txBody>
          <a:bodyPr>
            <a:normAutofit fontScale="90000"/>
          </a:bodyPr>
          <a:lstStyle/>
          <a:p>
            <a:r>
              <a:rPr lang="en-US" sz="2800" dirty="0"/>
              <a:t>Color Labeled Launch records on map with Folium</a:t>
            </a:r>
          </a:p>
        </p:txBody>
      </p:sp>
      <p:sp>
        <p:nvSpPr>
          <p:cNvPr id="3" name="Text Placeholder 2">
            <a:extLst>
              <a:ext uri="{FF2B5EF4-FFF2-40B4-BE49-F238E27FC236}">
                <a16:creationId xmlns:a16="http://schemas.microsoft.com/office/drawing/2014/main" id="{90B0C68F-73D8-6C0F-3B93-B0E2DA416E5D}"/>
              </a:ext>
            </a:extLst>
          </p:cNvPr>
          <p:cNvSpPr>
            <a:spLocks noGrp="1"/>
          </p:cNvSpPr>
          <p:nvPr>
            <p:ph type="body" idx="1"/>
          </p:nvPr>
        </p:nvSpPr>
        <p:spPr>
          <a:xfrm>
            <a:off x="425824" y="1056089"/>
            <a:ext cx="3966882" cy="5126793"/>
          </a:xfrm>
        </p:spPr>
        <p:txBody>
          <a:bodyPr wrap="square">
            <a:normAutofit/>
          </a:bodyPr>
          <a:lstStyle/>
          <a:p>
            <a:r>
              <a:rPr lang="en-US" sz="1600" dirty="0"/>
              <a:t>Using color labels to mark launches allows us to easily identify which launch sites have relatively high success rates.</a:t>
            </a:r>
          </a:p>
          <a:p>
            <a:endParaRPr lang="en-US" sz="1600" dirty="0"/>
          </a:p>
          <a:p>
            <a:r>
              <a:rPr lang="en-US" sz="1600" b="1" dirty="0">
                <a:solidFill>
                  <a:srgbClr val="00B050"/>
                </a:solidFill>
              </a:rPr>
              <a:t>Green Markers </a:t>
            </a:r>
            <a:r>
              <a:rPr lang="en-US" sz="1600" dirty="0"/>
              <a:t>indicate successful launches</a:t>
            </a:r>
          </a:p>
          <a:p>
            <a:r>
              <a:rPr lang="en-US" sz="1600" b="1" dirty="0">
                <a:solidFill>
                  <a:srgbClr val="FF0000"/>
                </a:solidFill>
              </a:rPr>
              <a:t>Red Markers </a:t>
            </a:r>
            <a:r>
              <a:rPr lang="en-US" sz="1600" dirty="0"/>
              <a:t>indicate failed launches</a:t>
            </a:r>
          </a:p>
          <a:p>
            <a:endParaRPr lang="en-US" sz="1600" dirty="0"/>
          </a:p>
          <a:p>
            <a:r>
              <a:rPr lang="en-US" sz="1600" dirty="0"/>
              <a:t>As shown in the image, Launch Site KSC LC-39A has a high success rate.</a:t>
            </a:r>
          </a:p>
          <a:p>
            <a:endParaRPr lang="en-US" dirty="0"/>
          </a:p>
        </p:txBody>
      </p:sp>
      <p:pic>
        <p:nvPicPr>
          <p:cNvPr id="6" name="Picture 5">
            <a:extLst>
              <a:ext uri="{FF2B5EF4-FFF2-40B4-BE49-F238E27FC236}">
                <a16:creationId xmlns:a16="http://schemas.microsoft.com/office/drawing/2014/main" id="{9437C4C5-B2C5-307B-A5C0-150D78AED52A}"/>
              </a:ext>
            </a:extLst>
          </p:cNvPr>
          <p:cNvPicPr>
            <a:picLocks noChangeAspect="1"/>
          </p:cNvPicPr>
          <p:nvPr/>
        </p:nvPicPr>
        <p:blipFill>
          <a:blip r:embed="rId2"/>
          <a:stretch>
            <a:fillRect/>
          </a:stretch>
        </p:blipFill>
        <p:spPr>
          <a:xfrm>
            <a:off x="5203454" y="1056089"/>
            <a:ext cx="5353797" cy="5010849"/>
          </a:xfrm>
          <a:prstGeom prst="rect">
            <a:avLst/>
          </a:prstGeom>
        </p:spPr>
      </p:pic>
    </p:spTree>
    <p:extLst>
      <p:ext uri="{BB962C8B-B14F-4D97-AF65-F5344CB8AC3E}">
        <p14:creationId xmlns:p14="http://schemas.microsoft.com/office/powerpoint/2010/main" val="2502105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65C28-3ACA-F0A4-4DB5-24FB32AFD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E3FC4-FFB7-0009-5E58-BB3F3B56E5CC}"/>
              </a:ext>
            </a:extLst>
          </p:cNvPr>
          <p:cNvSpPr>
            <a:spLocks noGrp="1"/>
          </p:cNvSpPr>
          <p:nvPr>
            <p:ph type="title"/>
          </p:nvPr>
        </p:nvSpPr>
        <p:spPr>
          <a:xfrm>
            <a:off x="425824" y="305405"/>
            <a:ext cx="11120717" cy="465560"/>
          </a:xfrm>
        </p:spPr>
        <p:txBody>
          <a:bodyPr>
            <a:normAutofit fontScale="90000"/>
          </a:bodyPr>
          <a:lstStyle/>
          <a:p>
            <a:r>
              <a:rPr lang="en-US" sz="2800" dirty="0"/>
              <a:t>Distance from Launch Site CCAFS SLC-40 to Proximities on map with Folium</a:t>
            </a:r>
          </a:p>
        </p:txBody>
      </p:sp>
      <p:sp>
        <p:nvSpPr>
          <p:cNvPr id="3" name="Text Placeholder 2">
            <a:extLst>
              <a:ext uri="{FF2B5EF4-FFF2-40B4-BE49-F238E27FC236}">
                <a16:creationId xmlns:a16="http://schemas.microsoft.com/office/drawing/2014/main" id="{4CF08023-D8B2-77CD-2496-24E152208C38}"/>
              </a:ext>
            </a:extLst>
          </p:cNvPr>
          <p:cNvSpPr>
            <a:spLocks noGrp="1"/>
          </p:cNvSpPr>
          <p:nvPr>
            <p:ph type="body" idx="1"/>
          </p:nvPr>
        </p:nvSpPr>
        <p:spPr>
          <a:xfrm>
            <a:off x="425824" y="2259106"/>
            <a:ext cx="3966882" cy="2626659"/>
          </a:xfrm>
        </p:spPr>
        <p:txBody>
          <a:bodyPr wrap="square">
            <a:normAutofit/>
          </a:bodyPr>
          <a:lstStyle/>
          <a:p>
            <a:r>
              <a:rPr lang="en-US" sz="1600" dirty="0"/>
              <a:t>From the visual analysis of the launch site CCAFS SLC-40 we can determine the following:</a:t>
            </a:r>
          </a:p>
          <a:p>
            <a:r>
              <a:rPr lang="en-US" sz="1600" dirty="0"/>
              <a:t>Closest Railway: 1.28 km</a:t>
            </a:r>
          </a:p>
          <a:p>
            <a:r>
              <a:rPr lang="en-US" sz="1600" dirty="0"/>
              <a:t>Closest Highway: 0.83 KM</a:t>
            </a:r>
          </a:p>
          <a:p>
            <a:r>
              <a:rPr lang="en-US" sz="1600" dirty="0"/>
              <a:t>Closest City: 13.06 km</a:t>
            </a:r>
          </a:p>
          <a:p>
            <a:endParaRPr lang="en-US" dirty="0"/>
          </a:p>
        </p:txBody>
      </p:sp>
      <p:pic>
        <p:nvPicPr>
          <p:cNvPr id="5" name="Picture 4">
            <a:extLst>
              <a:ext uri="{FF2B5EF4-FFF2-40B4-BE49-F238E27FC236}">
                <a16:creationId xmlns:a16="http://schemas.microsoft.com/office/drawing/2014/main" id="{2EF42832-2D93-5D8F-C19A-E73F5AEA1B62}"/>
              </a:ext>
            </a:extLst>
          </p:cNvPr>
          <p:cNvPicPr>
            <a:picLocks noChangeAspect="1"/>
          </p:cNvPicPr>
          <p:nvPr/>
        </p:nvPicPr>
        <p:blipFill>
          <a:blip r:embed="rId2"/>
          <a:stretch>
            <a:fillRect/>
          </a:stretch>
        </p:blipFill>
        <p:spPr>
          <a:xfrm>
            <a:off x="4457512" y="1219198"/>
            <a:ext cx="7377305" cy="4785279"/>
          </a:xfrm>
          <a:prstGeom prst="rect">
            <a:avLst/>
          </a:prstGeom>
        </p:spPr>
      </p:pic>
    </p:spTree>
    <p:extLst>
      <p:ext uri="{BB962C8B-B14F-4D97-AF65-F5344CB8AC3E}">
        <p14:creationId xmlns:p14="http://schemas.microsoft.com/office/powerpoint/2010/main" val="2758902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5BCF3-9CF9-327D-5925-667F4C6EA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7E336-5E72-1289-99E8-DB2948278284}"/>
              </a:ext>
            </a:extLst>
          </p:cNvPr>
          <p:cNvSpPr>
            <a:spLocks noGrp="1"/>
          </p:cNvSpPr>
          <p:nvPr>
            <p:ph type="title"/>
          </p:nvPr>
        </p:nvSpPr>
        <p:spPr>
          <a:xfrm>
            <a:off x="685800" y="322729"/>
            <a:ext cx="10131427" cy="716369"/>
          </a:xfrm>
        </p:spPr>
        <p:txBody>
          <a:bodyPr>
            <a:normAutofit/>
          </a:bodyPr>
          <a:lstStyle/>
          <a:p>
            <a:r>
              <a:rPr lang="en-US" sz="3600" dirty="0"/>
              <a:t>Dashboard with </a:t>
            </a:r>
            <a:r>
              <a:rPr lang="en-US" sz="3600" dirty="0" err="1"/>
              <a:t>Plotly</a:t>
            </a:r>
            <a:r>
              <a:rPr lang="en-US" sz="3600" dirty="0"/>
              <a:t> Dash</a:t>
            </a:r>
          </a:p>
        </p:txBody>
      </p:sp>
      <p:sp>
        <p:nvSpPr>
          <p:cNvPr id="3" name="Text Placeholder 2">
            <a:extLst>
              <a:ext uri="{FF2B5EF4-FFF2-40B4-BE49-F238E27FC236}">
                <a16:creationId xmlns:a16="http://schemas.microsoft.com/office/drawing/2014/main" id="{6188D158-D08A-BDF8-0F50-CC467002BDB3}"/>
              </a:ext>
            </a:extLst>
          </p:cNvPr>
          <p:cNvSpPr>
            <a:spLocks noGrp="1"/>
          </p:cNvSpPr>
          <p:nvPr>
            <p:ph type="body" idx="1"/>
          </p:nvPr>
        </p:nvSpPr>
        <p:spPr>
          <a:xfrm>
            <a:off x="685799" y="1039098"/>
            <a:ext cx="10131428" cy="5361702"/>
          </a:xfrm>
        </p:spPr>
        <p:txBody>
          <a:bodyPr/>
          <a:lstStyle/>
          <a:p>
            <a:r>
              <a:rPr lang="en-US" sz="2400" dirty="0"/>
              <a:t>The dashboard is comprised of two plots </a:t>
            </a:r>
          </a:p>
          <a:p>
            <a:endParaRPr lang="en-US" sz="1600" dirty="0"/>
          </a:p>
          <a:p>
            <a:r>
              <a:rPr lang="en-US" dirty="0"/>
              <a:t>Pie Chart showing launch successes and failures</a:t>
            </a:r>
          </a:p>
          <a:p>
            <a:pPr marL="285750" indent="-285750">
              <a:buFont typeface="Wingdings" panose="05000000000000000000" pitchFamily="2" charset="2"/>
              <a:buChar char="v"/>
            </a:pPr>
            <a:r>
              <a:rPr lang="en-US" sz="1600" dirty="0"/>
              <a:t>Interactive dropdown menu enables toggling through all sites</a:t>
            </a:r>
          </a:p>
          <a:p>
            <a:pPr marL="285750" indent="-285750">
              <a:buFont typeface="Wingdings" panose="05000000000000000000" pitchFamily="2" charset="2"/>
              <a:buChar char="v"/>
            </a:pPr>
            <a:r>
              <a:rPr lang="en-US" sz="1600" dirty="0"/>
              <a:t>Allows quick visual assessments and comparisons of landing outcomes by launch site</a:t>
            </a:r>
          </a:p>
          <a:p>
            <a:pPr marL="285750" indent="-285750">
              <a:buFont typeface="Wingdings" panose="05000000000000000000" pitchFamily="2" charset="2"/>
              <a:buChar char="v"/>
            </a:pPr>
            <a:endParaRPr lang="en-US" sz="1600" dirty="0"/>
          </a:p>
          <a:p>
            <a:endParaRPr lang="en-US" sz="1600" dirty="0"/>
          </a:p>
          <a:p>
            <a:r>
              <a:rPr lang="en-US" sz="1600" dirty="0"/>
              <a:t>Scatter Plot showing payload mass vs. landing outcome using colors to distinguish booster versions</a:t>
            </a:r>
          </a:p>
          <a:p>
            <a:pPr marL="285750" indent="-285750">
              <a:buFont typeface="Wingdings" panose="05000000000000000000" pitchFamily="2" charset="2"/>
              <a:buChar char="v"/>
            </a:pPr>
            <a:r>
              <a:rPr lang="en-US" sz="1600" dirty="0"/>
              <a:t>Dropdown menu offers the same interactivity as the pie chart</a:t>
            </a:r>
          </a:p>
          <a:p>
            <a:pPr marL="285750" indent="-285750">
              <a:buFont typeface="Wingdings" panose="05000000000000000000" pitchFamily="2" charset="2"/>
              <a:buChar char="v"/>
            </a:pPr>
            <a:r>
              <a:rPr lang="en-US" sz="1600" dirty="0"/>
              <a:t>Additional slider allows filtering by payload range data</a:t>
            </a:r>
          </a:p>
          <a:p>
            <a:endParaRPr lang="en-US" sz="1600" dirty="0"/>
          </a:p>
          <a:p>
            <a:endParaRPr lang="en-US" sz="1600" dirty="0"/>
          </a:p>
          <a:p>
            <a:endParaRPr lang="en-US" dirty="0"/>
          </a:p>
        </p:txBody>
      </p:sp>
    </p:spTree>
    <p:extLst>
      <p:ext uri="{BB962C8B-B14F-4D97-AF65-F5344CB8AC3E}">
        <p14:creationId xmlns:p14="http://schemas.microsoft.com/office/powerpoint/2010/main" val="813972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D7038-F618-9C27-D3B3-D044FA4E2AB9}"/>
              </a:ext>
            </a:extLst>
          </p:cNvPr>
          <p:cNvSpPr>
            <a:spLocks noGrp="1"/>
          </p:cNvSpPr>
          <p:nvPr>
            <p:ph type="title"/>
          </p:nvPr>
        </p:nvSpPr>
        <p:spPr>
          <a:xfrm>
            <a:off x="730625" y="2294966"/>
            <a:ext cx="10131425" cy="1862168"/>
          </a:xfrm>
        </p:spPr>
        <p:txBody>
          <a:bodyPr>
            <a:normAutofit/>
          </a:bodyPr>
          <a:lstStyle/>
          <a:p>
            <a:pPr algn="ctr"/>
            <a:r>
              <a:rPr lang="en-US" sz="6000" b="1" dirty="0"/>
              <a:t>Predictive Analysis</a:t>
            </a:r>
            <a:br>
              <a:rPr lang="en-US" sz="6000" b="1" dirty="0"/>
            </a:br>
            <a:r>
              <a:rPr lang="en-US" sz="4400" b="1" dirty="0"/>
              <a:t>(Classification)</a:t>
            </a:r>
          </a:p>
        </p:txBody>
      </p:sp>
    </p:spTree>
    <p:extLst>
      <p:ext uri="{BB962C8B-B14F-4D97-AF65-F5344CB8AC3E}">
        <p14:creationId xmlns:p14="http://schemas.microsoft.com/office/powerpoint/2010/main" val="185457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774F4-467C-939C-74C2-42CE4A7DB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C1833-18C3-4FA1-D077-DB5A177B5D8C}"/>
              </a:ext>
            </a:extLst>
          </p:cNvPr>
          <p:cNvSpPr>
            <a:spLocks noGrp="1"/>
          </p:cNvSpPr>
          <p:nvPr>
            <p:ph type="title"/>
          </p:nvPr>
        </p:nvSpPr>
        <p:spPr>
          <a:xfrm>
            <a:off x="685800" y="322729"/>
            <a:ext cx="10131427" cy="716369"/>
          </a:xfrm>
        </p:spPr>
        <p:txBody>
          <a:bodyPr>
            <a:normAutofit/>
          </a:bodyPr>
          <a:lstStyle/>
          <a:p>
            <a:r>
              <a:rPr lang="en-US" sz="3600" dirty="0"/>
              <a:t>Predictive Analysis using Machine Learning</a:t>
            </a:r>
          </a:p>
        </p:txBody>
      </p:sp>
      <p:sp>
        <p:nvSpPr>
          <p:cNvPr id="3" name="Text Placeholder 2">
            <a:extLst>
              <a:ext uri="{FF2B5EF4-FFF2-40B4-BE49-F238E27FC236}">
                <a16:creationId xmlns:a16="http://schemas.microsoft.com/office/drawing/2014/main" id="{1A1B4758-A4E5-BA64-F854-5FF52ED92DD7}"/>
              </a:ext>
            </a:extLst>
          </p:cNvPr>
          <p:cNvSpPr>
            <a:spLocks noGrp="1"/>
          </p:cNvSpPr>
          <p:nvPr>
            <p:ph type="body" idx="1"/>
          </p:nvPr>
        </p:nvSpPr>
        <p:spPr>
          <a:xfrm>
            <a:off x="685800" y="1039098"/>
            <a:ext cx="2108200" cy="5361702"/>
          </a:xfrm>
        </p:spPr>
        <p:txBody>
          <a:bodyPr>
            <a:normAutofit/>
          </a:bodyPr>
          <a:lstStyle/>
          <a:p>
            <a:r>
              <a:rPr lang="en-US" sz="1600" dirty="0"/>
              <a:t>Four Machine Learning Classifications models were constructed using this process to predict landing outcome</a:t>
            </a:r>
          </a:p>
          <a:p>
            <a:endParaRPr lang="en-US" sz="1400" dirty="0"/>
          </a:p>
          <a:p>
            <a:pPr marL="285750" indent="-285750">
              <a:buFont typeface="Wingdings" panose="05000000000000000000" pitchFamily="2" charset="2"/>
              <a:buChar char="v"/>
            </a:pPr>
            <a:r>
              <a:rPr lang="en-US" sz="1400" dirty="0"/>
              <a:t>Logistic Regression</a:t>
            </a:r>
          </a:p>
          <a:p>
            <a:pPr marL="285750" indent="-285750">
              <a:buFont typeface="Wingdings" panose="05000000000000000000" pitchFamily="2" charset="2"/>
              <a:buChar char="v"/>
            </a:pPr>
            <a:r>
              <a:rPr lang="en-US" sz="1400" dirty="0"/>
              <a:t>Support Vector Machine</a:t>
            </a:r>
          </a:p>
          <a:p>
            <a:pPr marL="285750" indent="-285750">
              <a:buFont typeface="Wingdings" panose="05000000000000000000" pitchFamily="2" charset="2"/>
              <a:buChar char="v"/>
            </a:pPr>
            <a:r>
              <a:rPr lang="en-US" sz="1400" dirty="0"/>
              <a:t>Decision Tree</a:t>
            </a:r>
          </a:p>
          <a:p>
            <a:pPr marL="285750" indent="-285750">
              <a:buFont typeface="Wingdings" panose="05000000000000000000" pitchFamily="2" charset="2"/>
              <a:buChar char="v"/>
            </a:pPr>
            <a:r>
              <a:rPr lang="en-US" sz="1400" dirty="0"/>
              <a:t>K-Nearest Neighbor</a:t>
            </a:r>
          </a:p>
          <a:p>
            <a:endParaRPr lang="en-US" sz="1600" dirty="0"/>
          </a:p>
          <a:p>
            <a:endParaRPr lang="en-US" dirty="0"/>
          </a:p>
        </p:txBody>
      </p:sp>
      <p:graphicFrame>
        <p:nvGraphicFramePr>
          <p:cNvPr id="5" name="Diagram 4">
            <a:extLst>
              <a:ext uri="{FF2B5EF4-FFF2-40B4-BE49-F238E27FC236}">
                <a16:creationId xmlns:a16="http://schemas.microsoft.com/office/drawing/2014/main" id="{3C0151B5-1EF6-A23D-8EBE-BCC239D44762}"/>
              </a:ext>
            </a:extLst>
          </p:cNvPr>
          <p:cNvGraphicFramePr/>
          <p:nvPr>
            <p:extLst>
              <p:ext uri="{D42A27DB-BD31-4B8C-83A1-F6EECF244321}">
                <p14:modId xmlns:p14="http://schemas.microsoft.com/office/powerpoint/2010/main" val="3339998032"/>
              </p:ext>
            </p:extLst>
          </p:nvPr>
        </p:nvGraphicFramePr>
        <p:xfrm>
          <a:off x="2794000" y="101061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4291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485BE-9E11-D432-2BE6-5240BF66CFBD}"/>
              </a:ext>
            </a:extLst>
          </p:cNvPr>
          <p:cNvSpPr>
            <a:spLocks noGrp="1"/>
          </p:cNvSpPr>
          <p:nvPr>
            <p:ph type="title"/>
          </p:nvPr>
        </p:nvSpPr>
        <p:spPr>
          <a:xfrm>
            <a:off x="488576" y="359819"/>
            <a:ext cx="10131427" cy="860400"/>
          </a:xfrm>
        </p:spPr>
        <p:txBody>
          <a:bodyPr>
            <a:normAutofit/>
          </a:bodyPr>
          <a:lstStyle/>
          <a:p>
            <a:r>
              <a:rPr lang="en-US" sz="3600" b="1" dirty="0"/>
              <a:t>Confusion Matrix</a:t>
            </a:r>
          </a:p>
        </p:txBody>
      </p:sp>
      <p:sp>
        <p:nvSpPr>
          <p:cNvPr id="3" name="Text Placeholder 2">
            <a:extLst>
              <a:ext uri="{FF2B5EF4-FFF2-40B4-BE49-F238E27FC236}">
                <a16:creationId xmlns:a16="http://schemas.microsoft.com/office/drawing/2014/main" id="{10AF2237-D3B6-AB66-C809-3BE0413F70BC}"/>
              </a:ext>
            </a:extLst>
          </p:cNvPr>
          <p:cNvSpPr>
            <a:spLocks noGrp="1"/>
          </p:cNvSpPr>
          <p:nvPr>
            <p:ph type="body" idx="1"/>
          </p:nvPr>
        </p:nvSpPr>
        <p:spPr>
          <a:xfrm>
            <a:off x="685799" y="2079811"/>
            <a:ext cx="4773707" cy="2895601"/>
          </a:xfrm>
        </p:spPr>
        <p:txBody>
          <a:bodyPr/>
          <a:lstStyle/>
          <a:p>
            <a:r>
              <a:rPr lang="en-US" dirty="0"/>
              <a:t>All four models had the same The confusion Matrix and similar accuracy scores </a:t>
            </a:r>
          </a:p>
          <a:p>
            <a:endParaRPr lang="en-US" dirty="0"/>
          </a:p>
          <a:p>
            <a:r>
              <a:rPr lang="en-US" dirty="0"/>
              <a:t>18 outcomes were predicted and each had 3 false positives.</a:t>
            </a:r>
          </a:p>
        </p:txBody>
      </p:sp>
      <p:pic>
        <p:nvPicPr>
          <p:cNvPr id="5" name="Picture 4">
            <a:extLst>
              <a:ext uri="{FF2B5EF4-FFF2-40B4-BE49-F238E27FC236}">
                <a16:creationId xmlns:a16="http://schemas.microsoft.com/office/drawing/2014/main" id="{7C69ADC2-4200-46B1-F8C8-692B62087531}"/>
              </a:ext>
            </a:extLst>
          </p:cNvPr>
          <p:cNvPicPr>
            <a:picLocks noChangeAspect="1"/>
          </p:cNvPicPr>
          <p:nvPr/>
        </p:nvPicPr>
        <p:blipFill>
          <a:blip r:embed="rId2"/>
          <a:stretch>
            <a:fillRect/>
          </a:stretch>
        </p:blipFill>
        <p:spPr>
          <a:xfrm>
            <a:off x="5876283" y="1530701"/>
            <a:ext cx="5172797" cy="4334480"/>
          </a:xfrm>
          <a:prstGeom prst="rect">
            <a:avLst/>
          </a:prstGeom>
        </p:spPr>
      </p:pic>
    </p:spTree>
    <p:extLst>
      <p:ext uri="{BB962C8B-B14F-4D97-AF65-F5344CB8AC3E}">
        <p14:creationId xmlns:p14="http://schemas.microsoft.com/office/powerpoint/2010/main" val="1846395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38BFF-2103-7A18-A882-02897D467742}"/>
              </a:ext>
            </a:extLst>
          </p:cNvPr>
          <p:cNvSpPr>
            <a:spLocks noGrp="1"/>
          </p:cNvSpPr>
          <p:nvPr>
            <p:ph type="title"/>
          </p:nvPr>
        </p:nvSpPr>
        <p:spPr>
          <a:xfrm>
            <a:off x="685800" y="286869"/>
            <a:ext cx="10131427" cy="788087"/>
          </a:xfrm>
        </p:spPr>
        <p:txBody>
          <a:bodyPr>
            <a:normAutofit/>
          </a:bodyPr>
          <a:lstStyle/>
          <a:p>
            <a:r>
              <a:rPr lang="en-US" sz="3600" b="1" dirty="0"/>
              <a:t>Conclusion</a:t>
            </a:r>
          </a:p>
        </p:txBody>
      </p:sp>
      <p:sp>
        <p:nvSpPr>
          <p:cNvPr id="3" name="Text Placeholder 2">
            <a:extLst>
              <a:ext uri="{FF2B5EF4-FFF2-40B4-BE49-F238E27FC236}">
                <a16:creationId xmlns:a16="http://schemas.microsoft.com/office/drawing/2014/main" id="{CA9845CD-66DA-527D-D56A-F68FC0502979}"/>
              </a:ext>
            </a:extLst>
          </p:cNvPr>
          <p:cNvSpPr>
            <a:spLocks noGrp="1"/>
          </p:cNvSpPr>
          <p:nvPr>
            <p:ph type="body" idx="1"/>
          </p:nvPr>
        </p:nvSpPr>
        <p:spPr>
          <a:xfrm>
            <a:off x="605117" y="1308039"/>
            <a:ext cx="10430436" cy="4562825"/>
          </a:xfrm>
        </p:spPr>
        <p:txBody>
          <a:bodyPr/>
          <a:lstStyle/>
          <a:p>
            <a:r>
              <a:rPr lang="en-US" dirty="0"/>
              <a:t>Landing outcome of the first stage rocket can be predicted with 83.34% accuracy</a:t>
            </a:r>
          </a:p>
          <a:p>
            <a:endParaRPr lang="en-US" dirty="0"/>
          </a:p>
          <a:p>
            <a:r>
              <a:rPr lang="en-US" dirty="0"/>
              <a:t>Variables affecting landing outcome</a:t>
            </a:r>
          </a:p>
          <a:p>
            <a:pPr marL="342900" indent="-342900">
              <a:buFont typeface="Wingdings" panose="05000000000000000000" pitchFamily="2" charset="2"/>
              <a:buChar char="v"/>
            </a:pPr>
            <a:r>
              <a:rPr lang="en-US" sz="1800" dirty="0"/>
              <a:t>Launch site: Geography plays an important role. Launch sites should be as close to the equator and a coastline as possible</a:t>
            </a:r>
          </a:p>
          <a:p>
            <a:pPr marL="342900" indent="-342900">
              <a:buFont typeface="Wingdings" panose="05000000000000000000" pitchFamily="2" charset="2"/>
              <a:buChar char="v"/>
            </a:pPr>
            <a:r>
              <a:rPr lang="en-US" sz="1800" dirty="0"/>
              <a:t>Launch number: More launches lead to more experience and higher success rates</a:t>
            </a:r>
          </a:p>
          <a:p>
            <a:pPr marL="342900" indent="-342900">
              <a:buFont typeface="Wingdings" panose="05000000000000000000" pitchFamily="2" charset="2"/>
              <a:buChar char="v"/>
            </a:pPr>
            <a:r>
              <a:rPr lang="en-US" sz="1800" dirty="0"/>
              <a:t>Payload: Heavier payloads tend to have more failed launches</a:t>
            </a:r>
          </a:p>
          <a:p>
            <a:pPr marL="342900" indent="-342900">
              <a:buFont typeface="Wingdings" panose="05000000000000000000" pitchFamily="2" charset="2"/>
              <a:buChar char="v"/>
            </a:pPr>
            <a:endParaRPr lang="en-US" dirty="0"/>
          </a:p>
        </p:txBody>
      </p:sp>
    </p:spTree>
    <p:extLst>
      <p:ext uri="{BB962C8B-B14F-4D97-AF65-F5344CB8AC3E}">
        <p14:creationId xmlns:p14="http://schemas.microsoft.com/office/powerpoint/2010/main" val="84933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22D6E-1278-A6D5-A6E9-5585D5C5B600}"/>
              </a:ext>
            </a:extLst>
          </p:cNvPr>
          <p:cNvSpPr>
            <a:spLocks noGrp="1"/>
          </p:cNvSpPr>
          <p:nvPr>
            <p:ph type="title"/>
          </p:nvPr>
        </p:nvSpPr>
        <p:spPr>
          <a:xfrm>
            <a:off x="542364" y="143435"/>
            <a:ext cx="10131427" cy="752228"/>
          </a:xfrm>
        </p:spPr>
        <p:txBody>
          <a:bodyPr>
            <a:normAutofit/>
          </a:bodyPr>
          <a:lstStyle/>
          <a:p>
            <a:r>
              <a:rPr lang="en-US" sz="3600" b="1" dirty="0"/>
              <a:t>Appendix</a:t>
            </a:r>
          </a:p>
        </p:txBody>
      </p:sp>
      <p:sp>
        <p:nvSpPr>
          <p:cNvPr id="3" name="Text Placeholder 2">
            <a:extLst>
              <a:ext uri="{FF2B5EF4-FFF2-40B4-BE49-F238E27FC236}">
                <a16:creationId xmlns:a16="http://schemas.microsoft.com/office/drawing/2014/main" id="{AB0FF0BD-A678-5EB5-F0D8-0A93C96B1F62}"/>
              </a:ext>
            </a:extLst>
          </p:cNvPr>
          <p:cNvSpPr>
            <a:spLocks noGrp="1"/>
          </p:cNvSpPr>
          <p:nvPr>
            <p:ph type="body" idx="1"/>
          </p:nvPr>
        </p:nvSpPr>
        <p:spPr>
          <a:xfrm>
            <a:off x="685799" y="1559859"/>
            <a:ext cx="10131428" cy="5154706"/>
          </a:xfrm>
        </p:spPr>
        <p:txBody>
          <a:bodyPr/>
          <a:lstStyle/>
          <a:p>
            <a:r>
              <a:rPr lang="en-US" dirty="0"/>
              <a:t>GitHub link to main repository</a:t>
            </a:r>
          </a:p>
          <a:p>
            <a:r>
              <a:rPr lang="en-US" dirty="0">
                <a:hlinkClick r:id="rId2"/>
              </a:rPr>
              <a:t>https://github.com/pwheelis/IBM-Applied-Data-Science-Capstone/tree/main</a:t>
            </a:r>
            <a:endParaRPr lang="en-US" dirty="0"/>
          </a:p>
          <a:p>
            <a:endParaRPr lang="en-US" dirty="0"/>
          </a:p>
        </p:txBody>
      </p:sp>
    </p:spTree>
    <p:extLst>
      <p:ext uri="{BB962C8B-B14F-4D97-AF65-F5344CB8AC3E}">
        <p14:creationId xmlns:p14="http://schemas.microsoft.com/office/powerpoint/2010/main" val="25435761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{4B69CF10-A313-45CF-8661-2BB71994D1D8}TFb5ae2469-0bae-4978-b0e0-39dd046150ff9a115ede-a9c3cc5252b0</Template>
  <TotalTime>2030</TotalTime>
  <Words>2009</Words>
  <Application>Microsoft Office PowerPoint</Application>
  <PresentationFormat>Widescreen</PresentationFormat>
  <Paragraphs>279</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Wingdings</vt:lpstr>
      <vt:lpstr>Celestial</vt:lpstr>
      <vt:lpstr>IBM Applied Data Science Capstone Project</vt:lpstr>
      <vt:lpstr>Outline</vt:lpstr>
      <vt:lpstr>Executive Summary</vt:lpstr>
      <vt:lpstr>Introduction</vt:lpstr>
      <vt:lpstr>Methodology</vt:lpstr>
      <vt:lpstr>Methodologies</vt:lpstr>
      <vt:lpstr>Methodology 1  Data Collecting</vt:lpstr>
      <vt:lpstr>Methodology 1  Data Collecting</vt:lpstr>
      <vt:lpstr>Methodology 1 Wrangling</vt:lpstr>
      <vt:lpstr>Methodology 2 Exploratory Data Analysis (EDA)</vt:lpstr>
      <vt:lpstr>Methodology 2 Exploratory Data Analysis (EDA)</vt:lpstr>
      <vt:lpstr>Methodology 2 Exploratory Data Analysis (EDA)</vt:lpstr>
      <vt:lpstr>Methodology 3 Predictive Analysis</vt:lpstr>
      <vt:lpstr>Results</vt:lpstr>
      <vt:lpstr>EDA with Visualization</vt:lpstr>
      <vt:lpstr>EDA with Visualization</vt:lpstr>
      <vt:lpstr>EDA with Visualization</vt:lpstr>
      <vt:lpstr>EDA with Visualization</vt:lpstr>
      <vt:lpstr>EDA with Visualization</vt:lpstr>
      <vt:lpstr>EDA with SQL</vt:lpstr>
      <vt:lpstr>EDA with SQL</vt:lpstr>
      <vt:lpstr>EDA with SQL</vt:lpstr>
      <vt:lpstr>EDA with SQL</vt:lpstr>
      <vt:lpstr>EDA with SQL</vt:lpstr>
      <vt:lpstr>EDA with SQL</vt:lpstr>
      <vt:lpstr>EDA with SQL</vt:lpstr>
      <vt:lpstr>EDA with SQL</vt:lpstr>
      <vt:lpstr>EDA with SQL</vt:lpstr>
      <vt:lpstr>EDA with SQL</vt:lpstr>
      <vt:lpstr>All launch location markers on global map with Folium</vt:lpstr>
      <vt:lpstr>Color Labeled Launch records on map with Folium</vt:lpstr>
      <vt:lpstr>Distance from Launch Site CCAFS SLC-40 to Proximities on map with Folium</vt:lpstr>
      <vt:lpstr>Dashboard with Plotly Dash</vt:lpstr>
      <vt:lpstr>Predictive Analysis (Classification)</vt:lpstr>
      <vt:lpstr>Predictive Analysis using Machine Learning</vt:lpstr>
      <vt:lpstr>Confusion Matrix</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Tish</dc:creator>
  <cp:lastModifiedBy>Tish</cp:lastModifiedBy>
  <cp:revision>4</cp:revision>
  <dcterms:created xsi:type="dcterms:W3CDTF">2026-04-06T20:57:38Z</dcterms:created>
  <dcterms:modified xsi:type="dcterms:W3CDTF">2026-04-08T07:43:33Z</dcterms:modified>
</cp:coreProperties>
</file>